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Nutzwert (gewichtet, max. 5,0)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Nutzwert (max. 5,0)</c:v>
                </c:pt>
              </c:strCache>
            </c:strRef>
          </c:tx>
          <c:spPr>
            <a:solidFill>
              <a:srgbClr val="333F4F"/>
            </a:solidFill>
          </c:spPr>
          <c:cat>
            <c:strRef>
              <c:f>Sheet1!$A$2:$A$5</c:f>
              <c:strCache>
                <c:ptCount val="4"/>
                <c:pt idx="0">
                  <c:v>Business Central + ISV</c:v>
                </c:pt>
                <c:pt idx="1">
                  <c:v>proALPHA</c:v>
                </c:pt>
                <c:pt idx="2">
                  <c:v>IFS Cloud</c:v>
                </c:pt>
                <c:pt idx="3">
                  <c:v>abas ERP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3.69</c:v>
                </c:pt>
                <c:pt idx="1">
                  <c:v>3.87</c:v>
                </c:pt>
                <c:pt idx="2">
                  <c:v>4.16</c:v>
                </c:pt>
                <c:pt idx="3">
                  <c:v>3.64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TCO 2027–2031 in Mio. €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Subskription</c:v>
                </c:pt>
              </c:strCache>
            </c:strRef>
          </c:tx>
          <c:spPr>
            <a:solidFill>
              <a:srgbClr val="333F4F"/>
            </a:solidFill>
          </c:spPr>
          <c:cat>
            <c:strRef>
              <c:f>Sheet1!$A$2:$A$6</c:f>
              <c:strCache>
                <c:ptCount val="5"/>
                <c:pt idx="0">
                  <c:v>BC + Branchen-lösung</c:v>
                </c:pt>
                <c:pt idx="1">
                  <c:v>BC Basis (günstig)</c:v>
                </c:pt>
                <c:pt idx="2">
                  <c:v>proALPHA</c:v>
                </c:pt>
                <c:pt idx="3">
                  <c:v>IFS Cloud</c:v>
                </c:pt>
                <c:pt idx="4">
                  <c:v>abas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</c:v>
                </c:pt>
                <c:pt idx="1">
                  <c:v>0.8</c:v>
                </c:pt>
                <c:pt idx="2">
                  <c:v>1.25</c:v>
                </c:pt>
                <c:pt idx="3">
                  <c:v>1.43</c:v>
                </c:pt>
                <c:pt idx="4">
                  <c:v>1.1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Einführung inkl. Puffer</c:v>
                </c:pt>
              </c:strCache>
            </c:strRef>
          </c:tx>
          <c:spPr>
            <a:solidFill>
              <a:srgbClr val="009A91"/>
            </a:solidFill>
          </c:spPr>
          <c:cat>
            <c:strRef>
              <c:f>Sheet1!$A$2:$A$6</c:f>
              <c:strCache>
                <c:ptCount val="5"/>
                <c:pt idx="0">
                  <c:v>BC + Branchen-lösung</c:v>
                </c:pt>
                <c:pt idx="1">
                  <c:v>BC Basis (günstig)</c:v>
                </c:pt>
                <c:pt idx="2">
                  <c:v>proALPHA</c:v>
                </c:pt>
                <c:pt idx="3">
                  <c:v>IFS Cloud</c:v>
                </c:pt>
                <c:pt idx="4">
                  <c:v>abas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1.39</c:v>
                </c:pt>
                <c:pt idx="1">
                  <c:v>1.18</c:v>
                </c:pt>
                <c:pt idx="2">
                  <c:v>1.69</c:v>
                </c:pt>
                <c:pt idx="3">
                  <c:v>2.08</c:v>
                </c:pt>
                <c:pt idx="4">
                  <c:v>1.59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Betrieb</c:v>
                </c:pt>
              </c:strCache>
            </c:strRef>
          </c:tx>
          <c:spPr>
            <a:solidFill>
              <a:srgbClr val="9AA8B5"/>
            </a:solidFill>
          </c:spPr>
          <c:cat>
            <c:strRef>
              <c:f>Sheet1!$A$2:$A$6</c:f>
              <c:strCache>
                <c:ptCount val="5"/>
                <c:pt idx="0">
                  <c:v>BC + Branchen-lösung</c:v>
                </c:pt>
                <c:pt idx="1">
                  <c:v>BC Basis (günstig)</c:v>
                </c:pt>
                <c:pt idx="2">
                  <c:v>proALPHA</c:v>
                </c:pt>
                <c:pt idx="3">
                  <c:v>IFS Cloud</c:v>
                </c:pt>
                <c:pt idx="4">
                  <c:v>abas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0.27</c:v>
                </c:pt>
                <c:pt idx="1">
                  <c:v>0.25</c:v>
                </c:pt>
                <c:pt idx="2">
                  <c:v>0.23</c:v>
                </c:pt>
                <c:pt idx="3">
                  <c:v>0.29</c:v>
                </c:pt>
                <c:pt idx="4">
                  <c:v>0.23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 (ca. 2 Min.): Frau Dr. Kessler, Herr Vogt, Frau Haller, Herr Brenner – Sie haben uns gebeten, die Vorauswahl vorzubereiten. Zuerst: Warum jetzt? Fünf Fristen bis Ende 2027 – die wichtigste ist der Ruhestand von Herrn Brugger. Neu für Sie: Die E-Rechnung muss KVA schon ab 01.01.2027 versenden, nicht erst 2028. Und wir sagen offen: 2016 sind 940 T€ ohne Ergebnis geblieben – unser Vorschlag ist so gebaut, dass sich diese Fehler nicht wiederholen.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Anforderungen (ca. 2 Min.): Wir haben alle 111 Wünsche sortiert. Nur 8 sind K.o. – das sind die Dinge, ohne die KVA nicht arbeiten kann. Herr Vogt, der Konfigurator ist K.o.-Kriterium Nr. 1, genau wie Sie es gefordert haben. Frau Nováková, CZ-Lokalisierung und CZ-Oberfläche sind K.o. Fünf Konflikte müssen Sie als GF entscheiden – unsere Vorschläge stehen rechts. Viele Infos im Material waren veraltet oder irreführend (Anhang A9).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Markt (ca. 1,5 Min.): 16 Optionen, auch die Modernisierung von KVA-WARE, Herr Vogt – die haben wir ernsthaft geprüft. Sie scheitert an 5 von 8 K.o.-Kriterien. Viele Anbieter scheiden aus, weil sie keinen Partner in Tschechien haben oder nur US-Cloud ohne Plan B bieten. Übrig bleiben vier: Business Central, proALPHA, IFS und abas.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Bewertung (ca. 2 Min.): IFS kann funktional am meisten – auch weil es als Multi-Site-System Pilsen und Singen in einer Datenbank führt, wie in der Vorlesung gezeigt. Es kostet aber rund 1,2 Mio. € mehr. Business Central hat das beste Verhältnis von Nutzen zu Kosten. Frau Haller, wir haben Ihre 5-Jahres-TCO-Methode übernommen – und müssen ehrlich sagen: Mit 1,5 Mio. € ist keine seriöse Lösung machbar. Selbst in der Logik des Projektauftrags (Einführung + 3 Jahre Lizenzen) kostet BC rund 1,9 Mio. €, weil die internen Kosten mit 120 T€ viel zu niedrig angesetzt waren.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Empfehlung (ca. 2,5 Min.): Business Central als Favorit – aber erst unterschreiben, wenn der Konfigurator im Test mit dem echten Baukasten funktioniert. Herr Vogt, Sie bewerten diesen Test. Pilsen geht zuerst live, Singen am 01.04.2028. Herr Brenner, Ihr Plan B: dieselbe Software kann beim deutschen Hoster laufen. Rechts stehen die acht Entscheidungen, die heute bei Ihnen liegen – allen voran Budget und Termin.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1 · AUSGANGSLAGE UND HANDLUNGSDRUCK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Warum jetzt? Fünf Fristen bis Ende 2027 – KVA-WARE hält keine davon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914400"/>
            <a:ext cx="7040880" cy="329184"/>
          </a:xfrm>
          <a:prstGeom prst="rect">
            <a:avLst/>
          </a:prstGeom>
          <a:solidFill>
            <a:srgbClr val="333F4F"/>
          </a:solidFill>
          <a:ln>
            <a:noFill/>
          </a:ln>
          <a:effectLst/>
        </p:spPr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Gruppe: [Name 1, Matr.-Nr.] · [Name 2, Matr.-Nr.] · [Name 3, Matr.-Nr.]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40280"/>
            <a:ext cx="6949440" cy="45720"/>
          </a:xfrm>
          <a:prstGeom prst="rect">
            <a:avLst/>
          </a:prstGeom>
          <a:solidFill>
            <a:srgbClr val="333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2157984"/>
            <a:ext cx="201168" cy="20116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463040"/>
            <a:ext cx="137160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01010"/>
                </a:solidFill>
                <a:latin typeface="Arial"/>
              </a:rPr>
              <a:t>31.12.2026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01010"/>
                </a:solidFill>
                <a:latin typeface="Arial"/>
              </a:rPr>
              <a:t>NAV-Partner Pilsen kündigt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468880"/>
            <a:ext cx="13716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55F6B"/>
                </a:solidFill>
                <a:latin typeface="Arial"/>
              </a:rPr>
              <a:t>Server 2016, kein Failover – Werk liefert 40 % der Gehäuse</a:t>
            </a:r>
          </a:p>
        </p:txBody>
      </p:sp>
      <p:sp>
        <p:nvSpPr>
          <p:cNvPr id="15" name="Oval 14"/>
          <p:cNvSpPr/>
          <p:nvPr/>
        </p:nvSpPr>
        <p:spPr>
          <a:xfrm>
            <a:off x="2468880" y="2157984"/>
            <a:ext cx="201168" cy="20116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65960" y="1463040"/>
            <a:ext cx="137160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01010"/>
                </a:solidFill>
                <a:latin typeface="Arial"/>
              </a:rPr>
              <a:t>01.01.2027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01010"/>
                </a:solidFill>
                <a:latin typeface="Arial"/>
              </a:rPr>
              <a:t>Pflicht E-Rechnungs-Versand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65960" y="2468880"/>
            <a:ext cx="13716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55F6B"/>
                </a:solidFill>
                <a:latin typeface="Arial"/>
              </a:rPr>
              <a:t>gilt für KVA schon 2027 (Umsatz &gt; 800 T€) – nicht erst 2028</a:t>
            </a:r>
          </a:p>
        </p:txBody>
      </p:sp>
      <p:sp>
        <p:nvSpPr>
          <p:cNvPr id="18" name="Oval 17"/>
          <p:cNvSpPr/>
          <p:nvPr/>
        </p:nvSpPr>
        <p:spPr>
          <a:xfrm>
            <a:off x="3886200" y="2157984"/>
            <a:ext cx="201168" cy="201168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3280" y="1463040"/>
            <a:ext cx="137160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9A91"/>
                </a:solidFill>
                <a:latin typeface="Arial"/>
              </a:rPr>
              <a:t>2027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01010"/>
                </a:solidFill>
                <a:latin typeface="Arial"/>
              </a:rPr>
              <a:t>BDE-Terminals am Ende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2468880"/>
            <a:ext cx="13716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55F6B"/>
                </a:solidFill>
                <a:latin typeface="Arial"/>
              </a:rPr>
              <a:t>Ersatzteile nur noch gebraucht (eBay)</a:t>
            </a:r>
          </a:p>
        </p:txBody>
      </p:sp>
      <p:sp>
        <p:nvSpPr>
          <p:cNvPr id="21" name="Oval 20"/>
          <p:cNvSpPr/>
          <p:nvPr/>
        </p:nvSpPr>
        <p:spPr>
          <a:xfrm>
            <a:off x="5303520" y="2157984"/>
            <a:ext cx="201168" cy="201168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00600" y="1463040"/>
            <a:ext cx="137160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9A91"/>
                </a:solidFill>
                <a:latin typeface="Arial"/>
              </a:rPr>
              <a:t>03/2027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01010"/>
                </a:solidFill>
                <a:latin typeface="Arial"/>
              </a:rPr>
              <a:t>Salesforce-Vertrag endet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00600" y="2468880"/>
            <a:ext cx="13716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55F6B"/>
                </a:solidFill>
                <a:latin typeface="Arial"/>
              </a:rPr>
              <a:t>nur noch 1 Jahr Verlängerung ohne Mehrkosten</a:t>
            </a:r>
          </a:p>
        </p:txBody>
      </p:sp>
      <p:sp>
        <p:nvSpPr>
          <p:cNvPr id="24" name="Oval 23"/>
          <p:cNvSpPr/>
          <p:nvPr/>
        </p:nvSpPr>
        <p:spPr>
          <a:xfrm>
            <a:off x="6720840" y="2157984"/>
            <a:ext cx="201168" cy="20116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1463040"/>
            <a:ext cx="137160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01010"/>
                </a:solidFill>
                <a:latin typeface="Arial"/>
              </a:rPr>
              <a:t>31.12.2027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01010"/>
                </a:solidFill>
                <a:latin typeface="Arial"/>
              </a:rPr>
              <a:t>Ruhestand K. Brugger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468880"/>
            <a:ext cx="137160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55F6B"/>
                </a:solidFill>
                <a:latin typeface="Arial"/>
              </a:rPr>
              <a:t>einziger KVA-WARE-Entwickler – „Das Wichtigste ist im Kopf“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291840"/>
            <a:ext cx="338328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333F4F"/>
                </a:solidFill>
                <a:latin typeface="Arial"/>
              </a:rPr>
              <a:t>Auftrag Beirat (Q3/2025)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01010"/>
                </a:solidFill>
                <a:latin typeface="Arial"/>
              </a:rPr>
              <a:t>Abhängigkeit von KVA-WARE bis Ende 2027 lösen; Vorlage mit ≥ 3 Alternativen bis Q4/2026. Meilenstein „Vertrag 30.09.2026“ ist schon verstrichen.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291840"/>
            <a:ext cx="54864" cy="96012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9080" y="3291840"/>
            <a:ext cx="34290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01010"/>
                </a:solidFill>
                <a:latin typeface="Arial"/>
              </a:rPr>
              <a:t>Gescheitert: „KVA neu“ 2014–2016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01010"/>
                </a:solidFill>
                <a:latin typeface="Arial"/>
              </a:rPr>
              <a:t>SAP-Projekt nach 17 Monaten abgebrochen, 940 T€ ohne Ergebnis. Ursachen: kein Konfigurator-Konzept, Key User nicht frei, Stammdaten, revidierte Entscheidungen.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69080" y="3291840"/>
            <a:ext cx="54864" cy="96012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79" y="1371600"/>
            <a:ext cx="38404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33F4F"/>
                </a:solidFill>
                <a:latin typeface="Arial"/>
              </a:rPr>
              <a:t>Strategie 2030: heute nicht erreichbar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7955279" y="1737360"/>
          <a:ext cx="3840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</a:tblGrid>
              <a:tr h="31350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Ziel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Liefertermintreue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58 %*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&gt; 92 %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Durchlaufzeit Standard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18 AT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10 AT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Lagerbestand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18,9 Mio. €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12 Mio. €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Monatsabschluss Gruppe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14 AT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5 AT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Wartungsverträge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1351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4,4 %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9 %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7955279" y="3977639"/>
            <a:ext cx="384048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55F6B"/>
                </a:solidFill>
                <a:latin typeface="Arial"/>
              </a:rPr>
              <a:t>* gegen ersten bestätigten Termin; KVA-WARE misst gegen den letzten (71 %)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343400"/>
            <a:ext cx="1124712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33F4F"/>
                </a:solidFill>
                <a:latin typeface="Arial"/>
              </a:rPr>
              <a:t>Kern des Problems: Insellösungen statt durchgängigem Beleg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709160"/>
            <a:ext cx="269748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333F4F"/>
                </a:solidFill>
                <a:latin typeface="Arial"/>
              </a:rPr>
              <a:t>Kein Konfigurator im ERP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Excel-Tool „KonfiX“ (2009, ohne Betreuer), 38.000 Einzel-Stücklisten, 60 % nie wieder genutzt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709160"/>
            <a:ext cx="54864" cy="118872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3280" y="4709160"/>
            <a:ext cx="269748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333F4F"/>
                </a:solidFill>
                <a:latin typeface="Arial"/>
              </a:rPr>
              <a:t>Termine ohne Grundlage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keine Kapazitätsplanung, Härterei per Magnettafel, 35 % der FA starten mit Fehlteilen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83280" y="4709160"/>
            <a:ext cx="54864" cy="118872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709160"/>
            <a:ext cx="269748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333F4F"/>
                </a:solidFill>
                <a:latin typeface="Arial"/>
              </a:rPr>
              <a:t>Keine Rückverfolgbarkeit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keine Seriennummern/Chargen – Rückruf 2024 kostete 180 T€; Installed Base (60.000 Antriebe) unbekannt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4709160"/>
            <a:ext cx="54864" cy="118872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52560" y="4709160"/>
            <a:ext cx="269748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333F4F"/>
                </a:solidFill>
                <a:latin typeface="Arial"/>
              </a:rPr>
              <a:t>Drei Systemwelten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KVA-WARE (nur EUR, nur DE), NAV Pilsen, Bexio CH – Konsolidierung in Excel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52560" y="4709160"/>
            <a:ext cx="54864" cy="118872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6172200"/>
            <a:ext cx="10698480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Quellen: Fallpaket KVA: Projektauftrag v1.2; IT-Architektur IST v0.9; Controlling 2025; Interviews 04, 06, 09–11; Beiratsprotokoll Q3/2025; Mail Nováková 04.02.2026; Helpdesk T25-0412; E-Rechnung: IHK Frankfurt/BMF.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2 · ZENTRALE ANFORDERUNGEN, K.-O.-KRITERIEN UND ZIELKONFLIKTE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Aus 111 Rohanforderungen wird ein Kern aus 8 K.o.-Kriterien – fünf Zielkonflikte sind aufzulösen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493776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33F4F"/>
                </a:solidFill>
                <a:latin typeface="Arial"/>
              </a:rPr>
              <a:t>K.-o.-Kriterien (Ausschluss bei Nichterfüllung)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600200"/>
          <a:ext cx="49377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480560"/>
              </a:tblGrid>
              <a:tr h="335280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Integrierte, regelbasierte Variantenkonfiguration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Projektfertigung Engineer-to-Order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Mehrere Gesellschaften &amp; Währungen in einem System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Lokalisierung DE/CZ/CH durch Hersteller oder zertifizierten Partner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Durchgängige Serien- und Chargenverfolgung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Implementierungspartner in DE UND CZ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Datenverarbeitung in der EU, transparent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K8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Offene Schnittstellen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4709160"/>
            <a:ext cx="49377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33F4F"/>
                </a:solidFill>
                <a:latin typeface="Arial"/>
              </a:rPr>
              <a:t>Konsolidierung (Artefakt B)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111 Rohanforderungen + 8 neue → 14 K.o. · 61 Muss · 27 Kann · 5 Phase 2 · 6 gestrichen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Lösungsvorgaben umformuliert, z. B. „Ansicht wie F12“ → „Arbeitsplatzübersicht mit Ampel, &lt; 2 s“; „alle 340 Listen“ → Top-40 lt. Nutzungsstatistik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42 Widersprüche mit Fundstelle dokumentiert (Anhang A1)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09160"/>
            <a:ext cx="54864" cy="137160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0" y="1234440"/>
            <a:ext cx="61264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333F4F"/>
                </a:solidFill>
                <a:latin typeface="Arial"/>
              </a:rPr>
              <a:t>Zielkonflikte und unser Lösungsvorschlag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669280" y="1600200"/>
          <a:ext cx="6126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2377440"/>
                <a:gridCol w="2606040"/>
              </a:tblGrid>
              <a:tr h="609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Konflikt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Positionen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Vorschlag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Seriennummern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Service/QM: alle Antriebe – Lager/GF Technik: nur Sonder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Alle Antriebe, automatisch beim Typenschilddruck, Scan statt Abtippen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Betriebsmodell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CFO/CEO: SaaS – IT/GF Technik: Private Cloud/On-Prem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Kein K.o.: „SaaS mit Plan B“ (EU-RZ, Exit, Offline-Puffer, 2. Leitung)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Pilsen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Projektauftrag: 2029 – Werk/CFO: sofort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Pilsen zuerst als Pilot (sequenziell), NAV-Überbrückung 9 Monate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CRM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CEO: ein System – Vertrieb: „Salesforce bleibt“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Salesforce bis 03/2028 verlängern + integrieren, CRM-Entscheid 2028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Rückmeldung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Controlling: je Personalnummer – Betriebsrat: lehnt ab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1010"/>
                          </a:solidFill>
                          <a:latin typeface="Arial"/>
                        </a:rPr>
                        <a:t>Arbeitsplatzbezogen + Lohngruppen-Mischsatz, Rahmen-BV vor Vertrag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5669280" y="5349240"/>
            <a:ext cx="6126480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101010"/>
                </a:solidFill>
                <a:latin typeface="Arial"/>
              </a:rPr>
              <a:t>Ausland beachtet: CZ = EU (Intrastat, Kontrollmeldung, CZ-Sprache) · CH = Drittland (Zoll bei jeder Lieferung, MWST, QR-Rechnung, CHF) → K3/K4, Anhang A10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55F6B"/>
                </a:solidFill>
                <a:latin typeface="Arial"/>
              </a:rPr>
              <a:t>20 Störinformationen bewusst aussortiert (veraltetes Lastenheft 2015, Anekdoten, iPad-3D-Wunsch, falsche Zahlen) → Anhang A9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172200"/>
            <a:ext cx="10698480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Quellen: Anforderungskatalog Rohfassung 12.02.2026; Interviews 01–12; Flipcharts 21.01.2026; Kick-off 02.12.2025; LK-Ergebnis 18.02.2026; BR-Schreiben 09.02.2026. Details: XLSX Blätter 1–3.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3 · MARKTÜBERBLICK: LONGLIST → SHORTLIST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Markt: 16 Optionen geprüft – vier erfüllen alle K.o.-Kriterien und passen zu Größe und Zeitplan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486400" cy="804672"/>
          </a:xfrm>
          <a:prstGeom prst="rect">
            <a:avLst/>
          </a:prstGeom>
          <a:solidFill>
            <a:srgbClr val="333F4F"/>
          </a:solidFill>
          <a:ln>
            <a:noFill/>
          </a:ln>
          <a:effectLst/>
        </p:spPr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16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Arial"/>
              </a:rPr>
              <a:t>Longlist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353312"/>
            <a:ext cx="5669280" cy="7772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Mittelstands-ERP für diskrete Fertiger in DACH/CZ + Option 0 (Modernisierung KVA-WARE)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59" y="2258568"/>
            <a:ext cx="4754880" cy="804672"/>
          </a:xfrm>
          <a:prstGeom prst="rect">
            <a:avLst/>
          </a:prstGeom>
          <a:solidFill>
            <a:srgbClr val="333F4F"/>
          </a:solidFill>
          <a:ln>
            <a:noFill/>
          </a:ln>
          <a:effectLst/>
        </p:spPr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14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Arial"/>
              </a:rPr>
              <a:t>Filter K1/K2: Konfigurator + Projektfertigung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285999"/>
            <a:ext cx="5669280" cy="7772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raus: Option 0 (KVA-WARE modernisieren), Odoo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19" y="3191256"/>
            <a:ext cx="4023360" cy="804672"/>
          </a:xfrm>
          <a:prstGeom prst="rect">
            <a:avLst/>
          </a:prstGeom>
          <a:solidFill>
            <a:srgbClr val="333F4F"/>
          </a:solidFill>
          <a:ln>
            <a:noFill/>
          </a:ln>
          <a:effectLst/>
        </p:spPr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8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Arial"/>
              </a:rPr>
              <a:t>Filter K4/K6: Lokalisierung + Partner DE UND CZ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3218688"/>
            <a:ext cx="5669280" cy="7772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raus: Infor LN, Epicor, PSIpenta, ams.erp, HELIOS (nur CZ); Nachrücker: APplus (kein APplus-Partner in CZ belegt)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4480" y="4123944"/>
            <a:ext cx="3291840" cy="804672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Arial"/>
              </a:rPr>
              <a:t>Filter Größe, Kosten, Betriebsmodell, Akzeptanz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151376"/>
            <a:ext cx="5669280" cy="7772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raus: SAP S/4 Public (nur SaaS, kein E-Invoicing CZ), SAP S/4 Private + D365 SCM (über Rahmen), Infor CSI (US-Cloud ohne Plan B)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12064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333F4F"/>
                </a:solidFill>
                <a:latin typeface="Arial"/>
              </a:rPr>
              <a:t>1  Business Central + Branchenlösung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101010"/>
                </a:solidFill>
                <a:latin typeface="Arial"/>
              </a:rPr>
              <a:t>Abo je Nutzer · SaaS, Hosting als Plan B · CZ-Lokalisierung von Microsoft · Mehrmandanten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S02, S03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120640"/>
            <a:ext cx="54864" cy="100584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91840" y="512064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333F4F"/>
                </a:solidFill>
                <a:latin typeface="Arial"/>
              </a:rPr>
              <a:t>2  proALPHA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101010"/>
                </a:solidFill>
                <a:latin typeface="Arial"/>
              </a:rPr>
              <a:t>Kauf oder Abo · Spezialist Variantenfertigung · CZ: SPC solutions (Zlín) · Mehrmandanten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S05, S06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5120640"/>
            <a:ext cx="54864" cy="100584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512064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333F4F"/>
                </a:solidFill>
                <a:latin typeface="Arial"/>
              </a:rPr>
              <a:t>3  IFS Cloud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101010"/>
                </a:solidFill>
                <a:latin typeface="Arial"/>
              </a:rPr>
              <a:t>Abo · ETO/Service-stark · EU-Anbieter, SaaS oder kundenbetrieben · Multi-Site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S09–S11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5120640"/>
            <a:ext cx="54864" cy="100584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61120" y="512064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333F4F"/>
                </a:solidFill>
                <a:latin typeface="Arial"/>
              </a:rPr>
              <a:t>4  abas ERP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101010"/>
                </a:solidFill>
                <a:latin typeface="Arial"/>
              </a:rPr>
              <a:t>Kauf oder Abo · Fertigungs-Mittelstand · CZ: amotIQ · Mehrmandanten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S07, S08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61120" y="5120640"/>
            <a:ext cx="54864" cy="100584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6172200"/>
            <a:ext cx="10698480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Quellen: S02–S16, Abruf 29.10.2026; Systemarchitektur (Multi-Site/Mehrmandanten) nach Kurz (2026) und Martin/Kurz (2024) = S20, S21. Marktanteilsstudien bewusst nicht genutzt („Datenquellen meist zweifelhaft“, S21). Longlist komplett: Anhang A7.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4 · BEWERTUNGSERGEBNIS: NUTZWERT UND TCO ÜBER 5 JAHRE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IFS bietet den höchsten Nutzen – Business Central das beste Verhältnis von Nutzen zu Kosten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57200" y="1325880"/>
          <a:ext cx="365760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297680" y="1325880"/>
          <a:ext cx="402336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412480" y="1371600"/>
          <a:ext cx="34290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640080"/>
                <a:gridCol w="640080"/>
                <a:gridCol w="548640"/>
                <a:gridCol w="640080"/>
              </a:tblGrid>
              <a:tr h="424542">
                <a:tc>
                  <a:txBody>
                    <a:bodyPr/>
                    <a:lstStyle/>
                    <a:p/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BC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proALPHA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IFS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abas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Nutzwert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3,69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3,87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4,16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3,64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TCO 5 J. (Mio. €)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Spanne (Mio. €)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2,2–3,5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2,7–4,3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3,2–5,1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2,5–3,9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Nutzwert je Mio. €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1,44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1,22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1,09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1,25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Pilsen bis Q3/2027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realistisch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knapp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knapp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knapp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2454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Hauptrisiko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Konfigurator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CZ-Lokal.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Kosten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CZ-Lokal.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4526280"/>
            <a:ext cx="5577840" cy="16002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33F4F"/>
                </a:solidFill>
                <a:latin typeface="Arial"/>
              </a:rPr>
              <a:t>So lesen wir das Ergebnis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• IFS liegt vorn (ETO, Service, Multi-Site-Architektur), kostet aber rund 1,2 Mio. € mehr als BC; proALPHA ist stabil Platz 2.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• BC: bester Nutzen je Euro, schnellster Weg für Pilsen, Hosting als Plan B; bei „Fokus Zeit &amp; Pilsen“ nahe an IFS (A3).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• abas ist günstiger als proALPHA, fällt aber bei Service und CZ-Lokalisierung zurück.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• Vollkosten je Nutzer und Monat: BC ≈ 186 €, abas ≈ 212 €, proALPHA ≈ 230 €, IFS ≈ 275 €.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4526280"/>
            <a:ext cx="5577840" cy="16002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1010"/>
                </a:solidFill>
                <a:latin typeface="Arial"/>
              </a:rPr>
              <a:t>Budget: keine Option passt in 1,2 Mio. € oder &lt; 1 Mio. €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• Interne Kosten im Projektauftrag 120 T€ statt realistisch 350–450 T€. Selbst in seiner Logik (Einführung + 3 J. Lizenzen) kostet BC ≈ 1,9 Mio. €.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• Auch die günstige Variante (BC Basis, 2,2 Mio. €) liegt über der CFO-Grenze von 1,5 Mio. €.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• Einordnung: 0,5–0,9 % vom Umsatz p. a.; Nutzen 0,5–0,9 Mio. € p. a. + 3–4 Mio. € Liquidität aus Bestandsabbau.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172200"/>
            <a:ext cx="10698480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Quellen: Eigene Nutzwertanalyse (11 Kriterien, Gewichte vorab festgelegt) und TCO-Modell, XLSX Blätter 6–9. BC-Preise lt. Microsoft-Preisliste DE (S02); proALPHA/IFS/abas-Preise nicht öffentlich = gekennzeichnete Annahmen, Spanne −15 %/+35 %.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5 · EMPFEHLUNG, ROADMAP UND ENTSCHEIDUNGSBEDARF DER GESCHÄFTSFÜHRUNG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Empfehlung: Business Central + Branchenlösung als Favorit – Vertrag erst nach bestandenem Konfigurator-Test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2743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33F4F"/>
                </a:solidFill>
                <a:latin typeface="Arial"/>
              </a:rPr>
              <a:t>Roadmap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Q4/26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21608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Q1/27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97096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Q2/27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72583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Q3/27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8072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Q4/27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23560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Q1/28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Q2/28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74536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H2/28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50024" y="1280160"/>
            <a:ext cx="475488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2029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572768"/>
            <a:ext cx="2743200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01010"/>
                </a:solidFill>
                <a:latin typeface="Arial"/>
              </a:rPr>
              <a:t>Sofortmaßnahmen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E-Rechnung-Konverter, NAV-Notfallsupport, Brugger-Doku, Stammdaten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6120" y="1627632"/>
            <a:ext cx="950976" cy="292608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ab sofort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011680"/>
            <a:ext cx="2743200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01010"/>
                </a:solidFill>
                <a:latin typeface="Arial"/>
              </a:rPr>
              <a:t>Ausschreibung + PoC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RFP an 4 Anbieter, gleiches Testskript (A11), PoC BC vs. proALPHA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7443" y="2066544"/>
            <a:ext cx="879652" cy="292608"/>
          </a:xfrm>
          <a:prstGeom prst="rect">
            <a:avLst/>
          </a:prstGeom>
          <a:solidFill>
            <a:srgbClr val="333F4F"/>
          </a:solidFill>
          <a:ln>
            <a:noFill/>
          </a:ln>
          <a:effectLst/>
        </p:spPr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Vertrag 04/27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450591"/>
            <a:ext cx="2743200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01010"/>
                </a:solidFill>
                <a:latin typeface="Arial"/>
              </a:rPr>
              <a:t>Pilsen (Pilot)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Template für die Gruppe, NAV-Brücke bis 09/2027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97096" y="2505456"/>
            <a:ext cx="950976" cy="292608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Go-live 01.10.27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889504"/>
            <a:ext cx="2743200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01010"/>
                </a:solidFill>
                <a:latin typeface="Arial"/>
              </a:rPr>
              <a:t>Singen + CH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Kern: Konfigurator, Fertigung, Finanzen, QM, Service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2944368"/>
            <a:ext cx="1664208" cy="292608"/>
          </a:xfrm>
          <a:prstGeom prst="rect">
            <a:avLst/>
          </a:prstGeom>
          <a:solidFill>
            <a:srgbClr val="333F4F"/>
          </a:solidFill>
          <a:ln>
            <a:noFill/>
          </a:ln>
          <a:effectLst/>
        </p:spPr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Go-live 01.04.28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328415"/>
            <a:ext cx="2743200" cy="420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01010"/>
                </a:solidFill>
                <a:latin typeface="Arial"/>
              </a:rPr>
              <a:t>Phase 2</a:t>
            </a:r>
          </a:p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APS, Field-Service-App, Portal/Shop, Instandhaltung, CRM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9048" y="3383279"/>
            <a:ext cx="1426464" cy="292608"/>
          </a:xfrm>
          <a:prstGeom prst="rect">
            <a:avLst/>
          </a:prstGeom>
          <a:solidFill>
            <a:srgbClr val="555F6B"/>
          </a:solidFill>
          <a:ln>
            <a:noFill/>
          </a:ln>
          <a:effectLst/>
        </p:spPr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Arial"/>
              </a:rPr>
              <a:t>ab H2/28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703320"/>
            <a:ext cx="694944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33F4F"/>
                </a:solidFill>
                <a:latin typeface="Arial"/>
              </a:rPr>
              <a:t>Was die Empfehlung für Sie bedeutet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57200" y="3950208"/>
          <a:ext cx="69494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514600"/>
                <a:gridCol w="2834640"/>
              </a:tblGrid>
              <a:tr h="248194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Wer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Ihr Anliegen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Unsere Antwort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Dr. Martina Kessler (CEO)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Transparenz, ein System, Standard, planbare Kosten, „&lt; 1 Mio.“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Standard + Power BI mobil, Subskription; ehrlicher TCO statt Wunschbudget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Werner Vogt (GF Technik)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Konfigurator = Herzstück, Produktion darf nie stehen, keine Miete, kein zweites 2016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Konfigurator-PoC mit SEINEM Baukasten vor Vertrag; Offline-Puffer + 2. Leitung; Option 0 fair geprüft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Sabine Haller (CFO)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Abschluss 5 AT, Konsolidierung ab Go-live, 5-J.-TCO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Mandanten/IC ab Pilsen-Pilot, ihre TCO-Methode übernommen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Markus Brenner (IT)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Cloud nur mit Plan B, 1,5 FTE, Pilsen nicht parallel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Gleiche Software hostbar, sequenziell, Partner-Betrieb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Elena Nováková (Pilsen)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„We cannot wait until 2029“, CZ-Oberfläche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Pilsen zuerst (10/2027), CZ-Lokalisierung von Microsoft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48196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Jürgen Kolb (Betriebsrat)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BV vor Vertrag, keine Leistungskontrolle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Rahmen-BV vor Unterschrift, Rückmeldung je Arbeitsplatz, BR in Demos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457200" y="5870448"/>
            <a:ext cx="694944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101010"/>
                </a:solidFill>
                <a:latin typeface="Arial"/>
              </a:rPr>
              <a:t>Bedingung (Lehre aus 2016): Vertrag erst nach bestandenem Konfigurator-PoC – sonst proALPHA (+0,6 Mio. €).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1280160"/>
            <a:ext cx="4160520" cy="4846320"/>
          </a:xfrm>
          <a:prstGeom prst="rect">
            <a:avLst/>
          </a:prstGeom>
          <a:solidFill>
            <a:srgbClr val="333F4F"/>
          </a:solidFill>
          <a:ln>
            <a:noFill/>
          </a:ln>
          <a:effectLst/>
        </p:spPr>
        <p:txBody>
          <a:bodyPr rtlCol="0" anchor="t" wrap="square" lIns="137160" rIns="137160" tIns="137160" bIns="13716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Das muss die Geschäftsführung entscheiden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1  Budget: 5-J.-TCO bis 3,0 Mio. € freigeben (BC 2,6 Mio. € + Reserve) statt 1,2 Mio. €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2  Kosten/Tempo oder Funktionstiefe: BC (Favorit) oder proALPHA/IFS – Entscheidung nach dem PoC im März 2027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3  Termin: Go-live Singen 01.04.2028 statt 01.01.2028; Bereitschaft Brugger + RPG-Dienstleister als Brücke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4  Pilsen zuerst: NAV-Überbrückung mit DataSoft bis 09/2027 verhandeln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5  Seriennummer für alle Antriebe – endgültig, Änderung nur per Lenkungskreis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6  Salesforce 1 Jahr verlängern; CRM-Entscheidung 2028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7  Key User zu 20–30 % freistellen, externer Projektleiter, Exportkontrollbeauftragten benennen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8  E-Rechnungs-Konverter für KVA-WARE sofort beauftragen (Pflicht ab 01.01.2027)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172200"/>
            <a:ext cx="10698480" cy="29260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555F6B"/>
                </a:solidFill>
                <a:latin typeface="Arial"/>
              </a:rPr>
              <a:t>Quellen: Eigene Empfehlung auf Basis XLSX Blätter 1–9; Termine aus Mail Nováková 04.02.2026, Int. 04 (Brenner), LK 18.02.2026; Nächste Schritte bis Vertrag: Anhang A6.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A1 – Wichtigste Widersprüche (alle 42 in XLSX Blatt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114757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051560"/>
                <a:gridCol w="3017520"/>
                <a:gridCol w="3291840"/>
                <a:gridCol w="3657600"/>
              </a:tblGrid>
              <a:tr h="36576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Thema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Aussage A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Aussage B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Lösungsvorschlag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W-01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Budget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Projektauftrag v1.2 Kap. 5: 1,2 Mio. € (Einführung + 3 J. Lizenzen, interne Kosten 120 T€)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01 Kessler: „unter 1 Mio.“; Int. 02 Vogt: „mehr als 1 Mio. mache ich nicht mit“; Int. 03 / Mail Haller 19.01.: TCO 5 J. max. 1,5 Mio.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Einheitliche Bezugsgröße 5-J.-TCO inkl. interner Kosten (LK-Beschluss 18.02.). Obergrenze auf Basis TCO-Abschätzung neu festlegen (unsere Spanne 2,2–3,8 Mio. €), Budget gegen Business Case stellen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W-02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Interne Kosten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Projektauftrag Kap. 5: interne Freistellungen in 1,2 Mio. enthalten (120 T€)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Mail Haller 19.01.: realistisch 350–450 T€ (10 Key User, 18 Mon., 20–30 %)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 TCO 400–500 T€ interne Kosten ansetzen; Freistellung vertraglich mit Linienvorgesetzten vereinbaren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W-03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Go-live-Termin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Projektauftrag / Kick-off: Go-live Singen 01.01.2028 „nicht verhandelbar“ (Kessler)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04 Brenner: realistisch Mitte 2028; Int. 02 Vogt: „wird nicht klappen“; Meilenstein „Vertrag 30.09.2026“ ist bereits verstrichen (Stand 10/2026)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Go-live Singen 01.04.2028 planen (Puffer bis 01.07.2028); Überbrückung Brugger-Wissen durch Dokumentation + Bereitschaftsvertrag (RPG-Dienstleister, ggf. Fa. aus Ulm)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W-04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Verlängerung Brugger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IT-Historie Kap. 3: Brugger: Verlängerung „ausgeschlossen“; Int. 01 Kessler: „will ich nicht“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03 Haller: 6–12 Monate „verhandelbar“; Int. 04 Brugger: „Wenn es brennt, rufen Sie an. Aber ich mache keinen Vertrag.“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Kein Freelancer-Vertrag als Plan A. Stattdessen: Wissensdokumentation 2027 (versteckte Preislogik, Nachtläufe), Rufbereitschaft auf Stundenbasis anbieten, externer RPG-Dienstleister als Backup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W-05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Scope Pilsen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Projektauftrag Kap. 4/8: Pilsen Phase 2, Go-live 2029; Vogt Mail 04.02.: „NAV läuft doch“; Brenner: parallel „unmöglich“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11 / Mail Nováková 04.02.: Partner kündigt 31.12.2026 schriftlich, Server 2016 ohne Failover, „We cannot wait until 2029“; Haller: Konsolidierung ab Go-live; Kessler: „vielleicht war das falsch“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Pilsen als Pilot ZUERST (sequenziell, nicht parallel): Go-live Pilsen Q3/2027 auf dem Ziel-ERP; NAV-Betrieb bis dahin über befristeten Notfallsupport + Virtualisierung/Backup des Servers absichern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W-06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Brückenlösung Pilsen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Mail Nováková 04.02.: DataSoft bietet Migration auf Business Central für ca. 2,1 Mio. CZK, 6 Monate; Dvořák: „schnelles separates Cloud-ERP“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11 Nováková: „Two migrations in three years? No.“; Vogt: „nichts unterschreiben“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Keine isolierte Brücke. Wenn BC Gruppen-ERP wird, ist das DataSoft-Angebot ein möglicher Baustein des Gruppen-Rollouts (Template statt Insel) – sonst nur Notfall-Support verhandeln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W-08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Betriebsmodell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03 Haller: „Ganz klar SaaS“; Int. 01 Kessler: Cloud „selbstverständlich“; Int. 11 Pilsen: Cloud (keine IT)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04 Brenner: Private Cloud DE oder On-Prem, „gegen Cloud ohne Plan B“; Int. 02 Vogt: „Cloud ist Miete auf Lebenszeit“, Kauflizenz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Kein K.o. (Kick-off/LK-Beschluss). Bewertungskriterium „SaaS mit Plan B“: EU-Datenhaltung, Exit-Klausel, Wechselmöglichkeit Hosting/On-Prem, Offline-Puffer, 2. Internetleitung (18 T€/J.)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W-10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Seriennummern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Lastenheft 2015: „wird nicht benötigt“ (Vogt); Int. 02 Vogt: für Standard „Bürokratie“; Int. 08 Hummel: nur Sonderantriebe, „nicht abtippen“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09 Seitz: MUSS für alle Antriebe (Installed Base, Wartungsverträge 41→300); Int. 10 Rieger: MUSS (Bahn, Wehrtechnik, Rückruf 2024 = 180 T€)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Seriennummer für ALLE Antriebe – automatisch vergeben beim FA-Abschluss / Typenschilddruck (Fertigungsnummer = Seriennummer), Erfassung per Scan → kein Mehraufwand im Lager. Entscheidung schriftlich durch GF, nicht revidierbar ohne LK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W-16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Rückmeldung personenbezogen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P-010 / Int. 03 Arnold: Personalnummer je Arbeitsgang für Ist-Lohnkosten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12 / BR-Schreiben 09.02.: keine Leistungskontrolle, BR stimmt Rückmeldung je Personalnummer nicht zu (§ 87 Abs. 1 Nr. 6 BetrVG); Int. 06 Lang: „Arbeitsplatz reicht“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Rückmeldung arbeitsplatz-/gruppenbezogen; Ist-Kosten über Lohngruppen-Mischsätze je Kostenstelle; Auswertungen erst ab 5 Personen – in Rahmen-BV regeln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W-17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Rahmen-Betriebsvereinbarung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BR-Schreiben 09.02. / Int. 12: Rahmen-BV IT vor Vertragsabschluss, Entwurf bis Juni 2026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Status Entwurf unbekannt (kein Dokument im Fallpaket); Vertragsziel lt. Projektauftrag 30.09.2026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Status klären (Rückfrage GF); BV-Entwurf parallel zur RFP-Phase, 2 BR-Mitglieder in Drehbuch-Demos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W-18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Modernisierung KVA-WARE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Int. 02 / Mail Vogt 20.01.: RPG→Java-Migration für 300–400 T€; „Von Standard-ERP stand nichts im Protokoll“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Beiratsprotokoll Q3/2025: Beschluss = Abhängigkeit lösen + zukunftsfähiges ERP, ≥ 3 Alternativen; „Standard-ERP“ nur in der Diskussion; Kessler: keine Option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Modernisierung als „Option 0“ transparent bewerten (scheitert an 5 von 8 K.o.-Kriterien: Konfigurator, Mandanten, Lokalisierung CZ, Serien/Chargen, Partner) – so wird Vogt mitgenommen, statt übergangen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W-34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E-Rechnung Versand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IT-Architektur Kap. 5: Versandpflicht „ab 2027/2028 noch offen“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Rechtslage: Versandpflicht ab 01.01.2027 für Unternehmen mit Vorjahresumsatz &gt; 800 T€ (KVA betroffen); EDI bis Ende 2027 zulässig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Sofortmaßnahme Q4/2026: ZUGFeRD/XRechnung-Konverter auf KVA-WARE-Druckausgabe (Dienstleister/ELO); nicht auf Go-live warten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W-39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Projektauftrag nicht unterschrieben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Projektauftrag v1.2: „freigegeben durch GF“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Unterschrift Vogt fehlt („wenn ich sehe, dass die Auswahl ordentlich gemacht wird“)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101010"/>
                          </a:solidFill>
                          <a:latin typeface="Arial"/>
                        </a:rPr>
                        <a:t>Vogt in Drehbuch-Demos/Bewertung aktiv einbinden; Unterschrift als Meilenstein vor RFP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A2 – K.o.-Prüfung: Shortlist und Option 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8016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920240"/>
                <a:gridCol w="1554480"/>
                <a:gridCol w="1463040"/>
                <a:gridCol w="1554480"/>
                <a:gridCol w="1371600"/>
              </a:tblGrid>
              <a:tr h="4267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K.o.-Kriterium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BC + Branchenlösung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proALPHA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IFS Cloud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abas ERP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Option 0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K1 Integrierte, regelbasierte Variantenkonfiguration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 über ISV – PoC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 lt. Hersteller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 PoC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K2 Projektfertigung Engineer-to-Order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 (Projekte, einfacher)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✗ (Excel)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K3 Mehrere Gesellschaften &amp; Währungen in einem System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 (Mehrmandanten + IC)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 (Mehrmandanten)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 (Multi-Site)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 (Mehrmandanten)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K4 Lokalisierung DE/CZ/CH durch Hersteller oder zertifizierten Partner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 (Microsoft CZ)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? im RFI</a:t>
                      </a:r>
                    </a:p>
                  </a:txBody>
                  <a:tcPr marL="45720" marR="45720" marT="18288" marB="18288">
                    <a:solidFill>
                      <a:srgbClr val="F3E9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? im RFI</a:t>
                      </a:r>
                    </a:p>
                  </a:txBody>
                  <a:tcPr marL="45720" marR="45720" marT="18288" marB="18288">
                    <a:solidFill>
                      <a:srgbClr val="F3E9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K5 Durchgängige Serien- und Chargenverfolgung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K6 Implementierungspartner in DE UND CZ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 SPC solutions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 amotIQ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K7 Datenverarbeitung in der EU, transparent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 EU-RZ / Hosting DE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 DE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 EU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 DE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 On-Prem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K8 Offene Schnittstellen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teilweise</a:t>
                      </a:r>
                    </a:p>
                  </a:txBody>
                  <a:tcPr marL="45720" marR="45720" marT="18288" marB="18288">
                    <a:solidFill>
                      <a:srgbClr val="F3E9C6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303520"/>
            <a:ext cx="112471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01010"/>
                </a:solidFill>
                <a:latin typeface="Arial"/>
              </a:rPr>
              <a:t>Option 0 (RPG→Java-Migration, 300–400 T€ lt. GF Technik) wurde bewusst geprüft: Sie verlagert die Abhängigkeit nur auf einen Dienstleister und erfüllt 5 von 8 K.o.-Kriterien nicht. Nachrücker bei Ausfall eines Kandidaten: APplus (APplus-Partner in CZ im RFI klären).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303520"/>
            <a:ext cx="54864" cy="82296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A3 – Nutzwertanalyse im Detail und Sensitivität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70408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48640"/>
                <a:gridCol w="548640"/>
                <a:gridCol w="731520"/>
                <a:gridCol w="548640"/>
                <a:gridCol w="548640"/>
              </a:tblGrid>
              <a:tr h="36576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Gew. %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BC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proALPHA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IFS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abas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Variantenkonfiguration &amp; Variantenstückliste (CTO)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Fertigung &amp; Planung (MRP, Kapazität, Engpass Härterei, Rückmeldung)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Systemarchitektur Multi-Site (gruppenweite Bestände/Kapazitäten, IC-Aufträge)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Projektgeschäft ETO (Meilensteine, Anzahlung, Nachkalkulation)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Service &amp; Installed Base (Seriennr., Verträge, Field Service)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Qualität &amp; Rückverfolgbarkeit (Chargen, Prüfplanung, 8D)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Finanzen, Mandanten, Lokalisierung DE/CZ/CH, E-Rechnung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Integration &amp; Technologie (PDM, Salesforce, API, Power BI, Entra ID)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Betriebsmodell &amp; Datensouveränität (SaaS mit Plan B, EU, Offline-Puffer)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Partner DE+CZ &amp; zeitliche Machbarkeit (Pilsen bis Q3/2027)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Usability Shopfloor/Lager, CZ-Oberfläche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Nutzwert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3,69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3,87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4,16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3,64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589520" y="1188720"/>
          <a:ext cx="4251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548640"/>
                <a:gridCol w="777240"/>
                <a:gridCol w="548640"/>
                <a:gridCol w="594360"/>
              </a:tblGrid>
              <a:tr h="36576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Szenario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BC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proALPHA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IFS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abas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Basis (Empfehlung)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3,69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3,87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4,16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3,64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Fokus Produktion (Vogt/Lang)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3,51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4,01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4,20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3,74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Fokus Zeit &amp; Pilsen (Nováková/Haller)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3,91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3,73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4,04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3,55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Fokus Souveränität (Brenner/BR)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3,66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4,03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4,29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01010"/>
                          </a:solidFill>
                          <a:latin typeface="Arial"/>
                        </a:rPr>
                        <a:t>3,81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589520" y="3154680"/>
            <a:ext cx="4206240" cy="27432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333F4F"/>
                </a:solidFill>
                <a:latin typeface="Arial"/>
              </a:rPr>
              <a:t>Methodik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01010"/>
                </a:solidFill>
                <a:latin typeface="Arial"/>
              </a:rPr>
              <a:t>• Gewichte vor der Bewertung festgelegt, abgeleitet aus Umsatzanteilen (CTO 60 %) und Fristen.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01010"/>
                </a:solidFill>
                <a:latin typeface="Arial"/>
              </a:rPr>
              <a:t>• Skala 1–5: 3 = nur mit Partner-Erweiterung, 5 = Standard mit Marktstärke.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01010"/>
                </a:solidFill>
                <a:latin typeface="Arial"/>
              </a:rPr>
              <a:t>• Neues Kriterium Systemarchitektur nach Vorlesung: Multi-Site führt IC-Aufträge wie interne Aufträge, Mehrmandanten über Belegaustausch (S20, S21).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01010"/>
                </a:solidFill>
                <a:latin typeface="Arial"/>
              </a:rPr>
              <a:t>• Kosten bewusst NICHT im Nutzwert, sondern getrennt als TCO → Kennzahl Nutzwert je Mio. €.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01010"/>
                </a:solidFill>
                <a:latin typeface="Arial"/>
              </a:rPr>
              <a:t>• Punkte beruhen auf Herstellerangaben und Sekundärquellen – in Drehbuch-Demos zu bestätigen.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A4 – TCO-Modell: Annahmen offengelegt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097280"/>
          <a:ext cx="114757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005840"/>
                <a:gridCol w="640080"/>
                <a:gridCol w="640080"/>
                <a:gridCol w="685800"/>
                <a:gridCol w="640080"/>
                <a:gridCol w="640080"/>
                <a:gridCol w="4572000"/>
              </a:tblGrid>
              <a:tr h="213360"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  <a:latin typeface="Arial"/>
                        </a:rPr>
                        <a:t>Parameter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  <a:latin typeface="Arial"/>
                        </a:rPr>
                        <a:t>Einheit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  <a:latin typeface="Arial"/>
                        </a:rPr>
                        <a:t>BC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  <a:latin typeface="Arial"/>
                        </a:rPr>
                        <a:t>BC Basis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  <a:latin typeface="Arial"/>
                        </a:rPr>
                        <a:t>proALPHA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  <a:latin typeface="Arial"/>
                        </a:rPr>
                        <a:t>IFS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  <a:latin typeface="Arial"/>
                        </a:rPr>
                        <a:t>abas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  <a:latin typeface="Arial"/>
                        </a:rPr>
                        <a:t>Quelle / Annahme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Vollnutzer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Anzahl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Mengengerüst bereinigt (W-07)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Light-/Team-User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Anzahl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Mengengerüst bereinigt (W-07)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Shopfloor-Geräte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Anzahl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Annahme: 30 geteilte Tablets/Terminals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Preis Vollnutzer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€/Monat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95,3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95,3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BC Premium 95,30 € lt. Microsoft-Preisliste DE (S02); proALPHA/IFS/abas: ANNAHME (keine öffentlichen Listenpreise)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Preis Light-User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€/Monat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6,9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6,9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BC Team Members 6,90 € (S02); Rest ANNAHME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Preis Gerät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€/Monat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ANNAHME (BC-Gerätelizenz in EUR nicht öffentlich geprüft)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Branchen-Add-ons (Konfigurator, APS, QM, Service mobil)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€/Vollnutzer/Monat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ANNAHME: ISV-Erweiterungen auf AppSource; bei proALPHA/IFS/abas im Standard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Hosting Private Cloud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€/Jahr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36.000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30.000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ANNAHME Betrieb im DE-RZ des Anbieters/Partners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Subskriptionsanteil Jahr 1 (2027)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40 %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40 %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40 %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40 %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40 %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Ramp-up: Projekt- und Pilsen-Nutzer ab Q2/2027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Externe Beratertage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PT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700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ANNAHME aus Projektgröße (CTO+ETO+3 Länder); IFS umfangreicher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Tagessatz extern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€/PT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1.150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1.150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1.250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1.350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1.200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ANNAHME marktüblicher DE/CZ-Mischsatz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Interne Aufwände (Key User, IT)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€ einmalig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400.000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350.000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450.000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500.000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450.000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Mail Haller 19.01.: 350–450 T€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Datenbereinigung &amp; Migration (extern)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€ einmalig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80.000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70.000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80.000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90.000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80.000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ANNAHME; Stücklisten-Qualität schlecht (Int. 04)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Schnittstellen (PDM, Salesforce, EDI, Kardex, Carrier)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€ einmalig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120.000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100.000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120.000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130.000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120.000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ANNAHME 5–6 Schnittstellen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Hardware Shopfloor/Scanner (BDE-Ersatz)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€ einmalig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90.000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90.000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90.000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90.000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90.000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ANNAHME 30 Tablets + 25 Scanner + Drucker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Schulung &amp; Change (inkl. BR-Forderung)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€ einmalig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40.000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35.000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45.000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50.000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45.000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ANNAHME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Risikopuffer auf Einmalkosten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15 %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Erfahrungswert; 2016: Kostenüberschreitung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Anteil Einmalkosten in Jahr 1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60 %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60 %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60 %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60 %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60 %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Rest in Jahr 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Betrieb/Support Partner (AMS)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€/Jahr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40.000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35.000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30.000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45.000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30.000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ANNAHME; Jahr 1 zu 50 %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2. Internetleitung Singen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€/Jahr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18.000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18.000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18.000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18.000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18.000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Int. 04 Brenner: ca. 18 T€/Jahr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Spanne niedrig (Faktor)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Faktor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ANNAHME: günstiges Angebot, wenig Zusatzaufwand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Spanne hoch (Faktor)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Faktor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1,35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1,35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1,35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1,35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1,35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ANNAHME: typische Überschreitung bei Mehraufwand Stammdaten/Konfigurator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TCO 5 Jahre (Spanne)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Mio. €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2,6 (2,2–3,5)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2,2 (1,9–3,0)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3,2 (2,7–4,3)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3,8 (3,2–5,1)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2,9 (2,5–3,9)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01010"/>
                          </a:solidFill>
                          <a:latin typeface="Arial"/>
                        </a:rPr>
                        <a:t>Summe 2027–2031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A5 – Risiken und Gegenmaßnahmen (Lehren aus 2016)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114757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017520"/>
                <a:gridCol w="4983480"/>
                <a:gridCol w="1280160"/>
              </a:tblGrid>
              <a:tr h="48463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Risiko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Ursache 2016 / Fundstelle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Gegenmaßnahme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Verantwortlich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Konfigurator nicht abbildbar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3 Konzepte, keines umgesetzt (IT-Historie)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PoC mit 3 realen Typenschlüsseln VOR Vertrag; Regelwerk-Owner Konstruktion (Dr. Weber)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LK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Key User nicht verfügbar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Auftragsspitze 2015; Int. 05: 25 % Doppelerfassung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20–30 % Freistellung schriftlich, Vertretung, Q4-Spitze im Plan meiden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GF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Stammdatenqualität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Dubletten, keine Revisionen; 38.000 Stücklisten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Bereinigung ab sofort, nur verwendete Stücklisten migrieren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IT/AV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Revidierte Entscheidungen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GF Technik revidierte u. a. Seriennummern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Entscheidungslog, Änderung nur per LK-Beschluss; Vogt unterschreibt Projektauftrag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GF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Unerfüllbare Abnahme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340 Listen als Abnahmekriterium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Top-40-Liste aus Nutzungsstatistik, Rest Power BI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PL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Wissensverlust Brugger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Versteckte Preislogik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Dokumentation bis 06/2027, Bereitschaft auf Stundenbasis, RPG-Dienstleister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IT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Ausfall NAV Pilsen vor Go-live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Server 2016, Partner-Kündigung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Notfallsupport bis 09/2027, VM-Backup des NAV-Servers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Werk Pilsen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Betriebsrat blockiert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BDE 2012: Einigungsstelle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Rahmen-BV parallel zum RFP, BR in Demos, keine Personalnummer je AG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GF/BR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Internetausfall (SaaS)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2 Ausfälle 2025 &gt; 4 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2. Leitung (18 T€/J.), Offline-Puffer für Rückmeldung/Versand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IT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A6 – Nächste Schritte bis zur Vertragsunterschrift (April 2027)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114757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7315200"/>
                <a:gridCol w="3063240"/>
              </a:tblGrid>
              <a:tr h="5257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Wann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Schritt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Ergebnis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Dez 2026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Beirat: Entscheidungsvorlage, Budgetrahmen, Termine (Folie 5)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Mandat für Ausschreibung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Dez 2026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Sofortmaßnahmen: E-Rechnungs-Konverter, NAV-Notfallsupport, Brugger-Nutzungsstatistik + Doku, Stammdaten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Fristen 2027 entschärft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Jan 2027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Lastenheft finalisieren (Basis XLSX Blatt 3), RFP an 4 Anbieter + Partner DE/CZ; CZ-Lokalisierung proALPHA/abas schriftlich belegen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Vergleichbare Angebote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Feb 2027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Drehbuch-Demos (je 2 Tage) mit identischem Testskript T1–T6 (Anhang A11); Meister + 2 BR-Mitglieder bewerten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Punkte der Nutzwertanalyse bestätigt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Mär 2027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PoC Konfigurator (2–3 Wochen, BC + proALPHA), Referenzbesuche DE und CZ, Festpreis-/Budgetangebote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Go/No-Go je Kandidat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Mär 2027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Rahmen-Betriebsvereinbarung IT abschließen; Salesforce 1 Jahr verlängern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Voraussetzung Vertrag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Apr 2027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Vertragsverhandlung (Exit-Klausel, AVV, SLA, Preisbindung 5 J.), LK-Beschluss, Unterschrift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01010"/>
                          </a:solidFill>
                          <a:latin typeface="Arial"/>
                        </a:rPr>
                        <a:t>Projektstart Pilsen-Pilot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65760" y="5532120"/>
            <a:ext cx="1147572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Offene Rückfragen an die GF (Rollenspiel): Status Rahmen-BV? · Gilt 01.01.2028 auch bei Verschiebung des Vertrags? · Ist die Obergrenze 1,5 Mio. € TCO beschlossen oder Wunsch? · NIS2-Registrierung erfolgt? · Ist DataSoft zu befristetem Notfallsupport bereit?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5532120"/>
            <a:ext cx="54864" cy="59436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A7 – Longlist komplett: wer warum ausscheidet (für Rückfragen)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097280"/>
          <a:ext cx="1156716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2377440"/>
                <a:gridCol w="1737360"/>
                <a:gridCol w="2194560"/>
                <a:gridCol w="1097280"/>
                <a:gridCol w="3840480"/>
              </a:tblGrid>
              <a:tr h="309282"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Nr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Produkt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Betrieb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Präsenz CZ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Ergebnis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Begründung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Dynamics 365 Business Central (+ Fertigungs-/Konfigurator-Erweiterung)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SaaS (Azure EU); On-Prem/Partner-Hosting möglich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sehr hoch – CZ-Lokalisierung von Microsoft, viele Partner (u. a. DataSoft-Angebot)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Shortlist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Günstigste Variante, Pilsen schnell machbar, Plan B (Hosting) möglich; Risiko: Konfigurator/APS nur über Partnerlösungen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proALPHA ERP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Business Cloud (managed), On-Prem, hybrid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mittel – SPC solutions s.r.o., Zlín, als Sales Partner gelistet; Implementierungsumfang + CZ-Lokalisierung im RFI bestätigen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Shortlist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Mittelstands-Spezialist für Variantenfertiger, DE-Anbieter mit Cloud + On-Prem; CZ über Partner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IFS Cloud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SaaS oder kundenbetrieben (On-Prem/Remote)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hoch – Präsenz CZ seit 2000, Partner CDC Data, InfoConsulting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Shortlist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Funktional breiteste Abdeckung (ETO + Service), EU-Anbieter, beide Betriebsmodelle; teuerste Option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abas ERP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Cloud, On-Prem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mittel – amotIQ s.r.o. als Partner für CZ/SK (Pressemeldung)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Shortlist</a:t>
                      </a:r>
                    </a:p>
                  </a:txBody>
                  <a:tcPr marL="45720" marR="45720" marT="18288" marB="18288">
                    <a:solidFill>
                      <a:srgbClr val="CCE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Fertigungsfokus, DE-Anbieter mit Cloud + On-Prem; CZ-Partner belegt, Lokalisierung im RFI bestätigen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APplus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Cloud, Hybrid, On-Prem (lt. erp-software.org)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gering – Asseco Solutions CZ vertreibt HELIOS; APplus-Partner/-Lokalisierung in CZ nicht belegt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Nachrücker</a:t>
                      </a:r>
                    </a:p>
                  </a:txBody>
                  <a:tcPr marL="45720" marR="45720" marT="18288" marB="18288">
                    <a:solidFill>
                      <a:srgbClr val="F3E9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Fachlich passend, aber kein belegter APplus-Partner in CZ (K4/K6) – im RFI nachfragen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S/4HANA Cloud Public Edition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nur SaaS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hoch (Länderversion CZ)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Nur SaaS ohne Plan B; lt. SAP-KBA 3744200 kein Outbound-E-Invoicing CZ in DRC; Akzeptanzrisiko nach SAP-Abbruch 2016 („kein SAP“-Karte)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S/4HANA Cloud Private Edition (RISE)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Private Cloud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hoch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Für 420 MA / 230 Nutzer überdimensioniert, TCO deutlich über Rahmen, Komplexität wie 2016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Dynamics 365 Finance + Supply Chain Mgmt.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nur SaaS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hoch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Listenpreis SCM 182 €/Nutzer/Monat (S04) → 120 Vollnutzer ≈ 1,3 Mio. € reine Lizenz über 5 J.; nur SaaS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CloudSuite Industrial (SyteLine)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überwiegend Multi-Tenant-SaaS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hoch – ITeuro (Gold Channel Partner CZ/SK), Referenz FINIDR mit CSI + CPQ (S12)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CZ belegt, aber US-Multi-Tenant-Cloud ohne Plan B/Offline (Brenner, Vogt) und geringe DE-Partnerdichte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Infor LN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SaaS / On-Prem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gering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Eher Großunternehmen, CZ-Partner nicht belegt (K6)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Kinetic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SaaS / On-Prem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gering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DE/CZ-Implementierungspartner nicht belegt (K6)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PSIpenta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Cloud / On-Prem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gering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CZ-Präsenz nicht belegt (K6), Fokus Einzelfertigung statt Serienvarianten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ams.erp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Cloud / On-Prem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nicht belegt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Stärke Losgröße-1-Projektgeschäft, aber 60 % des Umsatzes sind CTO-Serienvarianten; CZ fehlt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HELIOS Nephrite/Green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Cloud / On-Prem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sehr hoch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Lokale CZ-Lösung, kein DE-Rollout (K4/K6) – höchstens Pilsen-Insel (widerspricht Ein-System-Ziel)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Odoo Enterprise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SaaS / On-Prem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mittel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K1 (Konfigurator) und Branchentiefe nicht belegt; Partnerqualität stark schwankend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09288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Option 0: Modernisierung KVA-WARE (RPG → Java)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On-Prem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keine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ausgeschieden (K.o.)</a:t>
                      </a:r>
                    </a:p>
                  </a:txBody>
                  <a:tcPr marL="45720" marR="45720" marT="18288" marB="18288">
                    <a:solidFill>
                      <a:srgbClr val="F1D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Erfüllt K1, K3, K4, K5, K6 nicht; Abhängigkeit verlagert sich nur auf Dienstleister; Beiratsbeschluss „zukunftsfähig“ nicht erfüllt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A8 – Lizenzmodelle: was wird eigentlich bezahlt?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43000"/>
          <a:ext cx="11567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03120"/>
                <a:gridCol w="1920240"/>
                <a:gridCol w="1463040"/>
                <a:gridCol w="1097280"/>
                <a:gridCol w="2240280"/>
                <a:gridCol w="1280160"/>
              </a:tblGrid>
              <a:tr h="561702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System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Lizenzmodell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Nutzerarten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Shopfloor/Lager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Kauf möglich?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Konsequenz für KVA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Prüfstatus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Business Central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Subskription pro Named User/Monat (SaaS); On-Prem/Hosting über Partner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Essentials 69,30 €, Premium 95,30 € (nötig für Fertigung + Service), Team Members 6,90 € (S02)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Gerätelizenz für geteilte Tablets/Terminals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On-Prem-Lizenzierung über Partner – Konditionen prüfen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120 Premium + 110 Team Members + 30 Geräte; Branchen-Apps meist zusätzlich pro User/Monat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EUR-Preise verifiziert (S02)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proALPHA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Kauflizenz + Wartung oder Subskription (Business Cloud)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Rollen-/Nutzerlizenzen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im RFP abfragen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ja (lt. Anbieterauftritt) – prüfen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Passt zu Vogt (Kauf möglich) und CFO (Cloud möglich)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ANNAHME – im RFP validieren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IFS Cloud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Subskription (auch bei kundenbetriebenem Betrieb)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Vollnutzer / eingeschränkte Nutzer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im RFP abfragen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im RFP klären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Höchste laufende Kosten; Mindestabnahmen prüfen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ANNAHME – im RFP validieren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abas ERP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Kauflizenz + Wartung oder Subskription (Cloud)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Nutzerlizenzen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im RFP abfragen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ja – prüfen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Mittleres Preisniveau angenommen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ANNAHME – im RFP validieren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D365 Supply Chain Mgmt.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Subskription pro User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SCM 182 €, Premium 259,90 € pro Nutzer/Monat (S04)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Device-Lizenzen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nein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Lizenz allein ≈ 1,3 Mio. € über 5 J. → über Rahmen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verifiziert (S04)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Option 0 KVA-WARE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keine Lizenz, aber Dienstleistervertrag + IBM-Leasing bis 06/2029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Kaba-BDE (Ersatz nötig)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Kosten verlagern sich auf Dienstleister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01010"/>
                          </a:solidFill>
                          <a:latin typeface="Arial"/>
                        </a:rPr>
                        <a:t>Fallpaket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20040" y="5257800"/>
            <a:ext cx="115671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01010"/>
                </a:solidFill>
                <a:latin typeface="Arial"/>
              </a:rPr>
              <a:t>Warum das wichtig ist: 210 Mitarbeitende melden in der Fertigung zurück. Würde jede Person eine Volllizenz brauchen, stiege die Subskription um ein Vielfaches. Deshalb rechnen wir mit 120 Voll- und 110 Light-Usern plus 30 Geräte-Lizenzen und fragen das Lizenzmodell für alle drei Nutzerarten im RFP verbindlich ab (inkl. Preisbindung über 5 Jahre).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5257800"/>
            <a:ext cx="54864" cy="86868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A9 – Störinformationen: was wir bewusst nicht verwendet haben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097280"/>
          <a:ext cx="1156716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3566160"/>
                <a:gridCol w="1645920"/>
                <a:gridCol w="3017520"/>
                <a:gridCol w="3017520"/>
              </a:tblGrid>
              <a:tr h="250371"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Nr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Information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Fundstelle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Warum irreführend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Umgang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Lastenheft 2015: Zahlen (220 MA, 31.000 Artikel, Pilsen 25 MA), Ziel SAP ERP 6.0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02_Projekt/Lastenheft v0.7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11 Jahre alt, nie freigegeben, Mengengerüst und Organisation überholt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Nur fachliche Ideen übernommen (Phantombaugruppen, Meilensteinfaktura); keine Zahl verwendet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Anekdoten: Freund „mit Business Central super zufrieden“, anderer „schlecht mit S/4 Cloud“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01 Kessler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Einzelmeinungen ohne Bezug zu KVA-Prozessen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Nicht in Bewertung; stattdessen Referenzbesuche bei vergleichbaren Variantenfertigern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Anbieter „von der Messe, nur Mittelstand, Süddeutschland“ – Name unbekannt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02 Vogt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Nicht prüfbar, persönliche Präferenz (T-011)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Gestrichen; regionale Partnernähe steckt im Kriterium Partner DE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Anonyme Karte „kein SAP“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Flipchart 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Stimmungsbild, keine Anforderung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Nur als Akzeptanzrisiko gewertet, nicht als Ausschlussgrund allein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„ERP mit integrierter KI, die Anfragen automatisch beantwortet“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01 / A-007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Unkonkret, löst kein Kernproblem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Kann; nur als Roadmap-Aspekt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Konfigurator offline auf dem iPad mit 3D-Modell beim Kunden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05 Moser / V-002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Lösungswunsch; 3D liegt im CAD; erhöht K.o.-Risiko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Phase 2; Muss ist nur ein integriertes Regelwerk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Oberfläche Rumänisch/Türkisch für 2 Lagermitarbeiter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08 Hummel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Randfall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Kann; Piktogramm-/Scanner-Apps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„30.000 Standardgetriebe pro Jahr“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08 Hummel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Zahl unplausibel (Produktion: 22.000)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Planwert 22.000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Wehrtechnik-Kunde: „Daten bei Amazon = Problem“ – „von einem Kunden gehört“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02 Vogt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Kein Dokument; Mail Brenner 21.01.: aktuell keine Vorgabe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Mögliche künftige Anforderung (Kann), nicht K.o.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„Sehr günstiges tschechisches ERP“ einer Schwesterfirma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11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Nováková empfiehlt es selbst nicht für die Gruppe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Nicht berücksichtigt (HELIOS als Vertreter in Longlist)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Schnelles separates Cloud-ERP für Pilsen als 6-Monats-Brücke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11 Dvořák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Doppelmigration, neue Insel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Abgelehnt; Pilsen als Pilot auf Ziel-ERP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Liefertreue 71 %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Controlling / Folien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Gemessen gegen letzten bestätigten Termin = geschönt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58 % als Ausgangswert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Umsatz 86,4 Mio. €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Unternehmensprofil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Summe der Einzelabschlüsse, nicht konsolidiert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82,7 Mio. € für Kennzahlen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„Alle 340 Listen müssen verfügbar sein“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Lastenheft 2015 / A-010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Nur ca. 40 genutzt; war 2016 unerfüllbar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Top-40 nach Nutzungsstatistik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„10 Jahre Historie im neuen System“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A-009 Vertrieb mündlich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Teuer, schlechte Datenqualität, kein Nutzen im Tagesgeschäft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Archiv statt Migration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Modernisierung RPG→Java für 300–400 T€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02 / Mail Vogt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Kein Angebot vorliegend; löst Funktionslücken nicht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Als Option 0 fair geprüft und verworfen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Einsparung Einkaufsbündelung 300–500 T€ p. a.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07 Frick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Unbelegte Eigenschätzung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Im Business Case halbiert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LkSG „ab 1.000 MA, noch nicht relevant“, CO₂-Fußabdruck, IoT/Predictive Maintenance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07, 09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Für die Systemauswahl Phase 1 nicht entscheidend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Kann/Phase 2; nur offene API gefordert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50371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Umbau Organigramm 01.07.2026 (AV + Produktion)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Organigramm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Ohne Einfluss auf Systemauswahl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Nicht berücksichtigt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0380"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„Nehmen Sie, was die Produktion versteht. Die Buchhaltung kommt mit allem klar.“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Interview 04 Brugger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Meinung; Finanzen/Konsolidierung sind K.o.-relevant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80" b="0">
                          <a:solidFill>
                            <a:srgbClr val="101010"/>
                          </a:solidFill>
                          <a:latin typeface="Arial"/>
                        </a:rPr>
                        <a:t>Nicht als Kriterium übernommen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A10 – Länder und Rechtsrahmen: Inland, EU-Ausland, Drittland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88720"/>
          <a:ext cx="115671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80160"/>
                <a:gridCol w="5029200"/>
                <a:gridCol w="3429000"/>
              </a:tblGrid>
              <a:tr h="768096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Gesellschaft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Rechtliche Anforderungen an das ERP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Weitere Anforderungen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Deutschland (Singen)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Inland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GoBD + Verfahrensdoku, HGB (IFRS künftig Kann), E-Rechnung Versand ab 01.01.2027, NIS2, BetrVG § 87/90, Exportkontrolle (BAFA, Dual-Use)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EUR, DATEV-Lohn-Schnittstelle, ELO-Archiv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Tschechien (Plzeň)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EU-Ausland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Kontrollmeldung (kontrolní hlášení), Intrastat, Zusammenfassende Meldung/VIES, CZ-Rechnungslegung, steuerfreie innergemeinschaftliche Lieferung, Verrechnungspreise IC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CZK, Oberfläche + Belege Tschechisch, lokaler Lohn-Dienstleister, CZ-sprachiger Partner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Schweiz (Kreuzlingen)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Drittland (nicht EU)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Zoll: Ausfuhranmeldung (ATLAS) + Ursprungsnachweise für jede Lieferung, MWST CH, QR-Rechnung, 5-Rappen-Rundung (Länderversion, S20), Datenschutz revDSG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CHF, Bexio ablösen, Servicetechniker CH in Phase 1b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Datenstandort / Anbieter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EU vs. USA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EU-Rechenzentrum + AVV; bei US-Anbietern CLOUD Act als Restrisiko (Brenner, BR); Option Datenhaltung DE für Wehrtechnik abfragen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01010"/>
                          </a:solidFill>
                          <a:latin typeface="Arial"/>
                        </a:rPr>
                        <a:t>BC: Azure EU-Region + Plan B Hosting DE; proALPHA/abas DE; IFS EU (SE)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20040" y="5212080"/>
            <a:ext cx="115671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01010"/>
                </a:solidFill>
                <a:latin typeface="Arial"/>
              </a:rPr>
              <a:t>Folge für die Auswahl: Lokalisierung für DE, CZ und CH ist K.o.-Kriterium K4, mehrere Gesellschaften und Währungen K3. Schweiz-Lieferungen brauchen heute Papier-Zolldokumente (Interview 08) – Zoll/ATLAS-Anbindung ist Muss (L-006). Datenhaltung: EU-Rechenzentrum ist K7; die Schweiz erkennt das EU-Datenschutzniveau als angemessen 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5212080"/>
            <a:ext cx="54864" cy="91440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A11 – Ein Testskript für alle Anbieter (Drehbuch-Demo und PoC)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553212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33F4F"/>
                </a:solidFill>
                <a:latin typeface="Arial"/>
              </a:rPr>
              <a:t>T1 · Konfigurator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20 reale Baukasten-Varianten inkl. 3 ungültiger Kombinationen: Regelprüfung, Preis mit Metallzuschlag, Termin, erzeugte Stückliste + Arbeitsplan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09A91"/>
                </a:solidFill>
                <a:latin typeface="Arial"/>
              </a:rPr>
              <a:t>K1 · V-001, P-001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234440"/>
            <a:ext cx="54864" cy="141732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234440"/>
            <a:ext cx="553212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33F4F"/>
                </a:solidFill>
                <a:latin typeface="Arial"/>
              </a:rPr>
              <a:t>T2 · PDM-Revision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Freigabe Revision C in SolidWorks PDM; offener Auftrag auf Revision A darf nicht stillschweigend wechseln; Änderungsprotokoll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09A91"/>
                </a:solidFill>
                <a:latin typeface="Arial"/>
              </a:rPr>
              <a:t>K8 · P-002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34440"/>
            <a:ext cx="54864" cy="141732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34640"/>
            <a:ext cx="553212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33F4F"/>
                </a:solidFill>
                <a:latin typeface="Arial"/>
              </a:rPr>
              <a:t>T3 · Engpassplanung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Härterei mit Ofencharge nach Werkstoff/Härteverfahren, Verzahnung, Fremdbearbeitung, Gehäuse-Zulauf aus Pilsen; Eilauftrag simulieren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09A91"/>
                </a:solidFill>
                <a:latin typeface="Arial"/>
              </a:rPr>
              <a:t>P-004, P-005, V-004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34640"/>
            <a:ext cx="54864" cy="141732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2834640"/>
            <a:ext cx="553212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33F4F"/>
                </a:solidFill>
                <a:latin typeface="Arial"/>
              </a:rPr>
              <a:t>T4 · Rückverfolgung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Gusscharge → Härtecharge → Fertigungsauftrag → Seriennummer → Kunde; Rückrufliste + Zeugnis 3.1 in ≤ 2 Stunden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09A91"/>
                </a:solidFill>
                <a:latin typeface="Arial"/>
              </a:rPr>
              <a:t>K5 · Q-001, S-001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834640"/>
            <a:ext cx="54864" cy="141732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34840"/>
            <a:ext cx="553212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33F4F"/>
                </a:solidFill>
                <a:latin typeface="Arial"/>
              </a:rPr>
              <a:t>T5 · Ausfall &amp; Shopfloor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Internet 4 h trennen: Rückmeldungen puffern und ohne Verlust/Doppelbuchung nachsynchronisieren; Auswertung erst ab 5 Personen (BR)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09A91"/>
                </a:solidFill>
                <a:latin typeface="Arial"/>
              </a:rPr>
              <a:t>P-016, P-009, B-001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34840"/>
            <a:ext cx="54864" cy="141732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4434840"/>
            <a:ext cx="553212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33F4F"/>
                </a:solidFill>
                <a:latin typeface="Arial"/>
              </a:rPr>
              <a:t>T6 · Gruppe DE/CZ/CH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101010"/>
                </a:solidFill>
                <a:latin typeface="Arial"/>
              </a:rPr>
              <a:t>Lieferung Pilsen → Singen als Intercompany-Vorgang, CZ-Kontrollmeldung, Schweizer QR-Rechnung/MWST, Konsolidierung mit IC-Eliminierung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09A91"/>
                </a:solidFill>
                <a:latin typeface="Arial"/>
              </a:rPr>
              <a:t>K3, K4 · F-002, F-006, F-007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4434840"/>
            <a:ext cx="54864" cy="1417320"/>
          </a:xfrm>
          <a:prstGeom prst="rect">
            <a:avLst/>
          </a:prstGeom>
          <a:solidFill>
            <a:srgbClr val="009A9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6053328"/>
            <a:ext cx="1069848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01010"/>
                </a:solidFill>
                <a:latin typeface="Arial"/>
              </a:rPr>
              <a:t>Für jeden Test: Daten vorab liefern, Ergebnis dokumentieren, Lücken/Add-ons/Partnerleistung getrennt bepreisen. Ein nicht bestandener K.o.-Test schlägt den Nutzwert.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201400" y="201168"/>
            <a:ext cx="6400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H   T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W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101010"/>
                </a:solidFill>
                <a:latin typeface="Arial"/>
              </a:rPr>
              <a:t>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"/>
            <a:ext cx="10515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9A91"/>
                </a:solidFill>
                <a:latin typeface="Arial"/>
              </a:rPr>
              <a:t>ANHANG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"/>
            <a:ext cx="1060704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101010"/>
                </a:solidFill>
                <a:latin typeface="Arial"/>
              </a:rPr>
              <a:t>Anhang A12 – Quellen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92240"/>
            <a:ext cx="82296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55F6B"/>
                </a:solidFill>
                <a:latin typeface="Arial"/>
              </a:rPr>
              <a:t>HTWG Konstanz · ERP-Systeme · Fallstudie KVA</a:t>
            </a:r>
          </a:p>
        </p:txBody>
      </p:sp>
      <p:sp>
        <p:nvSpPr>
          <p:cNvPr id="6" name="Oval 5"/>
          <p:cNvSpPr/>
          <p:nvPr/>
        </p:nvSpPr>
        <p:spPr>
          <a:xfrm>
            <a:off x="996696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0" y="6574536"/>
            <a:ext cx="64008" cy="64008"/>
          </a:xfrm>
          <a:prstGeom prst="ellipse">
            <a:avLst/>
          </a:prstGeom>
          <a:solidFill>
            <a:srgbClr val="10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84280" y="6053328"/>
            <a:ext cx="1609344" cy="1609344"/>
          </a:xfrm>
          <a:prstGeom prst="ellipse">
            <a:avLst/>
          </a:prstGeom>
          <a:solidFill>
            <a:srgbClr val="009A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39728" y="6327648"/>
            <a:ext cx="6400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051560"/>
          <a:ext cx="1156716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9144000"/>
                <a:gridCol w="1965960"/>
              </a:tblGrid>
              <a:tr h="220980">
                <a:tc>
                  <a:txBody>
                    <a:bodyPr/>
                    <a:lstStyle/>
                    <a:p>
                      <a:r>
                        <a:rPr sz="630" b="1">
                          <a:solidFill>
                            <a:srgbClr val="FFFFFF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1">
                          <a:solidFill>
                            <a:srgbClr val="FFFFFF"/>
                          </a:solidFill>
                          <a:latin typeface="Arial"/>
                        </a:rPr>
                        <a:t>Quelle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1">
                          <a:solidFill>
                            <a:srgbClr val="FFFFFF"/>
                          </a:solidFill>
                          <a:latin typeface="Arial"/>
                        </a:rPr>
                        <a:t>Art / Prüfstatus</a:t>
                      </a:r>
                    </a:p>
                  </a:txBody>
                  <a:tcPr marL="45720" marR="45720" marT="18288" marB="18288">
                    <a:solidFill>
                      <a:srgbClr val="333F4F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S01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HTWG Konstanz (2026) Fallpaket KVA – ERP-Auswahl (Aufgabenstellung, Ordner 01–07). Moodle, Kurs ERP-Systeme.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Fallpaket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S02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Microsoft (2026) Dynamics 365 Business Central – Preise. https://www.microsoft.com/de-de/dynamics-365/products/business-central/pricing (Abruf 29.10.2026).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Hersteller, verifiziert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S03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Microsoft Learn (2025) Czech Local Functionality – Business Central. https://learn.microsoft.com/dynamics365/business-central/localfunctionality/czech/czech-local-functionality (Abruf 29.10.2026).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Hersteller, verifiziert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S04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Microsoft (2026) Dynamics 365 Supply Chain Management – Preise. https://www.microsoft.com/de-de/dynamics-365/products/supply-chain-management/pricing (Abruf 29.10.2026).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Hersteller, verifiziert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S05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Proalpha (2026) Proalpha locations. https://proalpha.com/en/about-us/proalpha-locations (Abruf 29.10.2026).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Hersteller, verifiziert (Suche)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S06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Proalpha (2026) Produktkonfigurator. https://www.proalpha.com/de/erp-system-mittelstand/prozesse/produktkonfigurator (Abruf 29.10.2026).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Hersteller (Herstellerangabe)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S07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openPR (o. J.) Czech distributor of screws selects abas ERP. https://www.openpr.com/news/30626/czech-distributor-of-screws-selects-abas-erp.html (Abruf 29.10.2026).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Pressemeldung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S08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abas (2026) Fertigung. https://abas-erp.com/de/produkt/fertigung (Abruf 29.10.2026).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Hersteller (Herstellerangabe)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S09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IFS (2026) Find a partner: CDC Data. https://www.ifs.com/en/partners/find-a-partner/cdc-data (Abruf 29.10.2026).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Hersteller, verifiziert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S10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Lupa.cz (2010) IFS slaví 10 let na českém a slovenském trhu. https://www.lupa.cz/tiskove-zpravy/ifs-slavi-10-let-na-ceskem-a-slovenskem-trhu/ (Abruf 29.10.2026).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Pressemitteilung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S11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SoftwareConnect (2025) IFS Cloud Review. https://softwareconnect.com/reviews/ifs-cloud/ (Abruf 29.10.2026).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Sekundärquelle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S12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Infor (o. J.) FINIDR meets demand for more complex production capabilities with Infor SyteLine and Infor CPQ. https://www.infor.com/resources/finidr-meets-complex-production-demands-with-infor (Abruf 29.10.2026).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Hersteller-Fallstudie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S13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erp-software.org (2025) APplus. https://erp-software.org/software/applus/ (Abruf 29.10.2026).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Sekundärquelle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S14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Forbes Česko (2024) Helios je moderní nástroj pro firmy v 21. století. https://forbes.cz/helios-je-moderni-nastroj-pro-firmy-v-21-stoleti/ (Abruf 29.10.2026).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Presse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S15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SAP (2025) Knowledge Base Article 3744200. https://userapps.support.sap.com/sap/support/knowledge/en/3744200 (Abruf 29.10.2026).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Hersteller, verifiziert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S16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Industrial Production (2019) Forterro kauft abas Software. https://www.industrial-production.de/software/erp-software-forterro-kauft-abas-software.htm (Abruf 29.10.2026).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Fachpresse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S17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IHK Region Stuttgart (2026) E-Rechnungen – Ende der Übergangsfrist für Unternehmen mit mehr als 800.000 Euro Umsatz. https://www.ihk.de/stuttgart/fuer-unternehmen/recht-und-steuern/steuerrecht/steuermeldungen/e-rechnungen-5864496 (Abruf 29.10.2026).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Kammer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S18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Bundesministerium der Finanzen (2026) FAQ E-Rechnung. https://www.bundesfinanzministerium.de/Content/DE/FAQ/e-rechnung.html (Abruf durch Projektgruppe 29.10.2026).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Behörde (Primärquelle)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S19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usd AG (2025) NIS2UmsuCG offiziell in Kraft. https://www.usd.de/nis2umsucg-offiziell-in-kraft/ (Abruf 29.10.2026).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Sekundärquelle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S20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Kurz, F. (2026) ERP-Systeme, Teil 1. Vorlesungsunterlagen, HTWG Konstanz.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Vorlesung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S21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Martin, R. und Kurz, F. (2024) ERP-Systeme, Teil 2. Vorlesungsunterlagen, HTWG Konstanz.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Vorlesung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S22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Gronau, N. (2004) Enterprise Resource Planning und Supply Chain Management. München: Oldenbourg (zit. nach S20/S21).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Fachliteratur</a:t>
                      </a:r>
                    </a:p>
                  </a:txBody>
                  <a:tcPr marL="45720" marR="45720" marT="18288" marB="18288">
                    <a:solidFill>
                      <a:srgbClr val="EDF2F5"/>
                    </a:solidFill>
                  </a:tcPr>
                </a:tc>
              </a:tr>
              <a:tr h="220980"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S23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Buxmann, P. et al. (o. J.) Software as a Service. TU Darmstadt (zit. nach S21).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30" b="0">
                          <a:solidFill>
                            <a:srgbClr val="101010"/>
                          </a:solidFill>
                          <a:latin typeface="Arial"/>
                        </a:rPr>
                        <a:t>Fachliteratur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