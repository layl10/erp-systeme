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Nutzwert (gewichtet, max. 5,0)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Nutzwert (max. 5,0)</c:v>
                </c:pt>
              </c:strCache>
            </c:strRef>
          </c:tx>
          <c:spPr>
            <a:solidFill>
              <a:srgbClr val="1F4E79"/>
            </a:solidFill>
          </c:spPr>
          <c:cat>
            <c:strRef>
              <c:f>Sheet1!$A$2:$A$4</c:f>
              <c:strCache>
                <c:ptCount val="3"/>
                <c:pt idx="0">
                  <c:v>Business Central + ISV</c:v>
                </c:pt>
                <c:pt idx="1">
                  <c:v>Asseco APplus</c:v>
                </c:pt>
                <c:pt idx="2">
                  <c:v>IFS Cloud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3.75</c:v>
                </c:pt>
                <c:pt idx="1">
                  <c:v>3.84</c:v>
                </c:pt>
                <c:pt idx="2">
                  <c:v>4.09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TCO 2027–2031 in Mio. €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Subskription</c:v>
                </c:pt>
              </c:strCache>
            </c:strRef>
          </c:tx>
          <c:spPr>
            <a:solidFill>
              <a:srgbClr val="1F4E79"/>
            </a:solidFill>
          </c:spPr>
          <c:cat>
            <c:strRef>
              <c:f>Sheet1!$A$2:$A$5</c:f>
              <c:strCache>
                <c:ptCount val="4"/>
                <c:pt idx="0">
                  <c:v>BC + Branchen-lösung</c:v>
                </c:pt>
                <c:pt idx="1">
                  <c:v>BC Basis (günstig)</c:v>
                </c:pt>
                <c:pt idx="2">
                  <c:v>APplus</c:v>
                </c:pt>
                <c:pt idx="3">
                  <c:v>IFS Cloud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0.93</c:v>
                </c:pt>
                <c:pt idx="1">
                  <c:v>0.84</c:v>
                </c:pt>
                <c:pt idx="2">
                  <c:v>1.25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Einführung inkl. Puffer</c:v>
                </c:pt>
              </c:strCache>
            </c:strRef>
          </c:tx>
          <c:spPr>
            <a:solidFill>
              <a:srgbClr val="C55A11"/>
            </a:solidFill>
          </c:spPr>
          <c:cat>
            <c:strRef>
              <c:f>Sheet1!$A$2:$A$5</c:f>
              <c:strCache>
                <c:ptCount val="4"/>
                <c:pt idx="0">
                  <c:v>BC + Branchen-lösung</c:v>
                </c:pt>
                <c:pt idx="1">
                  <c:v>BC Basis (günstig)</c:v>
                </c:pt>
                <c:pt idx="2">
                  <c:v>APplus</c:v>
                </c:pt>
                <c:pt idx="3">
                  <c:v>IFS Cloud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1.39</c:v>
                </c:pt>
                <c:pt idx="1">
                  <c:v>1.18</c:v>
                </c:pt>
                <c:pt idx="2">
                  <c:v>1.69</c:v>
                </c:pt>
                <c:pt idx="3">
                  <c:v>2.08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Betrieb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Sheet1!$A$2:$A$5</c:f>
              <c:strCache>
                <c:ptCount val="4"/>
                <c:pt idx="0">
                  <c:v>BC + Branchen-lösung</c:v>
                </c:pt>
                <c:pt idx="1">
                  <c:v>BC Basis (günstig)</c:v>
                </c:pt>
                <c:pt idx="2">
                  <c:v>APplus</c:v>
                </c:pt>
                <c:pt idx="3">
                  <c:v>IFS Cloud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0.27</c:v>
                </c:pt>
                <c:pt idx="1">
                  <c:v>0.25</c:v>
                </c:pt>
                <c:pt idx="2">
                  <c:v>0.23</c:v>
                </c:pt>
                <c:pt idx="3">
                  <c:v>0.29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55A11"/>
                </a:solidFill>
                <a:latin typeface="Calibri"/>
              </a:rPr>
              <a:t>1 · AUSGANGSLAGE UND HANDLUNGSDRUCK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11480"/>
            <a:ext cx="1124712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Warum jetzt? Bis Ende 2027 laufen fünf Fristen ab – das Alt-ERP kann keine davon halten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HTWG Konstanz · ERP-Systeme · Fallstudie KVA · Entscheidungsvorlage ERP 2028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109728"/>
            <a:ext cx="365760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Gruppe: [Name 1 – Matr.-Nr.] · [Name 2 – Matr.-Nr.] · [Name 3 – Matr.-Nr.]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6949440" cy="457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2157984"/>
            <a:ext cx="201168" cy="20116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463040"/>
            <a:ext cx="137160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00000"/>
                </a:solidFill>
                <a:latin typeface="Calibri"/>
              </a:rPr>
              <a:t>31.12.2026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Calibri"/>
              </a:rPr>
              <a:t>NAV-Partner Pilsen kündigt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68880"/>
            <a:ext cx="13716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Calibri"/>
              </a:rPr>
              <a:t>Server 2016, kein Failover – Werk liefert 40 % der Gehäuse</a:t>
            </a:r>
          </a:p>
        </p:txBody>
      </p:sp>
      <p:sp>
        <p:nvSpPr>
          <p:cNvPr id="12" name="Oval 11"/>
          <p:cNvSpPr/>
          <p:nvPr/>
        </p:nvSpPr>
        <p:spPr>
          <a:xfrm>
            <a:off x="2468880" y="2157984"/>
            <a:ext cx="201168" cy="20116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65960" y="1463040"/>
            <a:ext cx="137160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00000"/>
                </a:solidFill>
                <a:latin typeface="Calibri"/>
              </a:rPr>
              <a:t>01.01.2027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Calibri"/>
              </a:rPr>
              <a:t>Pflicht E-Rechnungs-Versand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65960" y="2468880"/>
            <a:ext cx="13716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Calibri"/>
              </a:rPr>
              <a:t>gilt für KVA schon 2027 (Umsatz &gt; 800 T€) – nicht erst 2028</a:t>
            </a:r>
          </a:p>
        </p:txBody>
      </p:sp>
      <p:sp>
        <p:nvSpPr>
          <p:cNvPr id="15" name="Oval 14"/>
          <p:cNvSpPr/>
          <p:nvPr/>
        </p:nvSpPr>
        <p:spPr>
          <a:xfrm>
            <a:off x="3886200" y="2157984"/>
            <a:ext cx="201168" cy="201168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83280" y="1463040"/>
            <a:ext cx="137160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55A11"/>
                </a:solidFill>
                <a:latin typeface="Calibri"/>
              </a:rPr>
              <a:t>2027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Calibri"/>
              </a:rPr>
              <a:t>BDE-Terminals am Ende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2468880"/>
            <a:ext cx="13716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Calibri"/>
              </a:rPr>
              <a:t>Ersatzteile nur noch gebraucht (eBay)</a:t>
            </a:r>
          </a:p>
        </p:txBody>
      </p:sp>
      <p:sp>
        <p:nvSpPr>
          <p:cNvPr id="18" name="Oval 17"/>
          <p:cNvSpPr/>
          <p:nvPr/>
        </p:nvSpPr>
        <p:spPr>
          <a:xfrm>
            <a:off x="5303520" y="2157984"/>
            <a:ext cx="201168" cy="201168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00600" y="1463040"/>
            <a:ext cx="137160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55A11"/>
                </a:solidFill>
                <a:latin typeface="Calibri"/>
              </a:rPr>
              <a:t>03/2027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Calibri"/>
              </a:rPr>
              <a:t>Salesforce-Vertrag endet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2468880"/>
            <a:ext cx="13716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Calibri"/>
              </a:rPr>
              <a:t>nur noch 1 Jahr Verlängerung ohne Mehrkosten</a:t>
            </a:r>
          </a:p>
        </p:txBody>
      </p:sp>
      <p:sp>
        <p:nvSpPr>
          <p:cNvPr id="21" name="Oval 20"/>
          <p:cNvSpPr/>
          <p:nvPr/>
        </p:nvSpPr>
        <p:spPr>
          <a:xfrm>
            <a:off x="6720840" y="2157984"/>
            <a:ext cx="201168" cy="20116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463040"/>
            <a:ext cx="137160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00000"/>
                </a:solidFill>
                <a:latin typeface="Calibri"/>
              </a:rPr>
              <a:t>31.12.2027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Calibri"/>
              </a:rPr>
              <a:t>Ruhestand K. Brugger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468880"/>
            <a:ext cx="13716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Calibri"/>
              </a:rPr>
              <a:t>einziger KVA-WARE-Entwickler – „Das Wichtigste ist im Kopf“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429000"/>
            <a:ext cx="6949440" cy="6858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Beiratsbeschluss Q3/2025: Abhängigkeit von KVA-WARE bis Ende 2027 auflösen, Entscheidungsvorlage mit ≥ 3 Alternativen bis Q4/2026. Der Meilenstein „Vertrag 30.09.2026“ aus dem Projektauftrag ist bereits verstrichen.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1371600"/>
            <a:ext cx="38404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Strategie 2030 ist mit heutiger IT nicht erreichbar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955279" y="1737360"/>
          <a:ext cx="3840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</a:tblGrid>
              <a:tr h="31350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Kennzahl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Ziel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Liefertermintreue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58 %*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&gt; 92 %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Durchlaufzeit Standard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18 AT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10 AT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Lagerbestand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18,9 Mio. €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12 Mio. €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Monatsabschluss Gruppe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14 AT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5 AT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Wartungsverträge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1351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EBIT-Marge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4,4 %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9 %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7955279" y="3977639"/>
            <a:ext cx="384048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Calibri"/>
              </a:rPr>
              <a:t>* gegen ersten bestätigten Termin; KVA-WARE misst gegen den letzten (71 %)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343400"/>
            <a:ext cx="1124712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Kern des Problems: Insellösungen statt durchgängigem Beleg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709160"/>
            <a:ext cx="2697480" cy="11887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4E79"/>
                </a:solidFill>
                <a:latin typeface="Calibri"/>
              </a:rPr>
              <a:t>Kein Konfigurator im ERP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Calibri"/>
              </a:rPr>
              <a:t>Excel-Tool „KonfiX“ (2009, ohne Betreuer), 38.000 Einzel-Stücklisten, 60 % nie wieder genutzt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4709160"/>
            <a:ext cx="2697480" cy="11887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4E79"/>
                </a:solidFill>
                <a:latin typeface="Calibri"/>
              </a:rPr>
              <a:t>Termine ohne Grundlage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Calibri"/>
              </a:rPr>
              <a:t>keine Kapazitätsplanung, Härterei per Magnettafel, 35 % der FA starten mit Fehlteilen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4709160"/>
            <a:ext cx="2697480" cy="11887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4E79"/>
                </a:solidFill>
                <a:latin typeface="Calibri"/>
              </a:rPr>
              <a:t>Keine Rückverfolgbarkeit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Calibri"/>
              </a:rPr>
              <a:t>keine Seriennummern/Chargen – Rückruf 2024 kostete 180 T€; Installed Base (60.000 Antriebe) unbekannt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52560" y="4709160"/>
            <a:ext cx="2697480" cy="11887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4E79"/>
                </a:solidFill>
                <a:latin typeface="Calibri"/>
              </a:rPr>
              <a:t>Drei Systemwelten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Calibri"/>
              </a:rPr>
              <a:t>KVA-WARE (nur EUR, nur DE), NAV Pilsen, Bexio CH – Konsolidierung in Excel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199632"/>
            <a:ext cx="112471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Calibri"/>
              </a:rPr>
              <a:t>Quellen: Fallpaket KVA: Projektauftrag v1.2; IT-Architektur IST v0.9; Controlling 2025; Interviews 04, 06, 09–11; Beiratsprotokoll Q3/2025; Mail Nováková 04.02.2026; Helpdesk T25-0412; E-Rechnung: IHK Frankfurt/BMF.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55A11"/>
                </a:solidFill>
                <a:latin typeface="Calibri"/>
              </a:rPr>
              <a:t>2 · ZENTRALE ANFORDERUNGEN, K.-O.-KRITERIEN UND ZIELKONFLIKTE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11480"/>
            <a:ext cx="1124712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Aus 111 Rohanforderungen wird ein Kern aus 8 K.o.-Kriterien – fünf Zielkonflikte sind aufzulösen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HTWG Konstanz · ERP-Systeme · Fallstudie KVA · Entscheidungsvorlage ERP 2028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493776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K.-o.-Kriterien (Ausschluss bei Nichterfüllung)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00200"/>
          <a:ext cx="49377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480560"/>
              </a:tblGrid>
              <a:tr h="335280"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Kriterium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K1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Integrierte, regelbasierte Variantenkonfiguration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K2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Projektfertigung Engineer-to-Order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K3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Mehrere Gesellschaften &amp; Währungen in einem System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K4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Lokalisierung DE/CZ/CH durch Hersteller oder zertifizierten Partner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K5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Durchgängige Serien- und Chargenverfolgung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K6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Implementierungspartner in DE UND CZ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K7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Datenverarbeitung in der EU, transparent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K8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Offene Schnittstellen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4709160"/>
            <a:ext cx="4937760" cy="13716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4E79"/>
                </a:solidFill>
                <a:latin typeface="Calibri"/>
              </a:rPr>
              <a:t>Konsolidierung (Artefakt B)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Calibri"/>
              </a:rPr>
              <a:t>111 Rohanforderungen + 8 neue → 14 K.o. · 61 Muss · 27 Kann · 5 Phase 2 · 6 gestrichen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Calibri"/>
              </a:rPr>
              <a:t>Lösungsvorgaben umformuliert, z. B. „Ansicht wie F12“ → „Arbeitsplatzübersicht mit Ampel, &lt; 2 s“; „alle 340 Listen“ → Top-40 lt. Nutzungsstatistik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Calibri"/>
              </a:rPr>
              <a:t>42 Widersprüche mit Fundstelle dokumentiert (Anhang A1)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234440"/>
            <a:ext cx="61264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Zielkonflikte und unser Lösungsvorschlag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0" y="1600200"/>
          <a:ext cx="6126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2377440"/>
                <a:gridCol w="2606040"/>
              </a:tblGrid>
              <a:tr h="6096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Konflikt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Positionen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Vorschlag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Seriennummern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Service/QM: alle Antriebe – Lager/GF Technik: nur Sonder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Alle Antriebe, automatisch beim Typenschilddruck, Scan statt Abtippen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Betriebsmodell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CFO/CEO: SaaS – IT/GF Technik: Private Cloud/On-Prem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Kein K.o.: „SaaS mit Plan B“ (EU-RZ, Exit, Offline-Puffer, 2. Leitung)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Pilsen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Projektauftrag: 2029 – Werk/CFO: sofort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Pilsen zuerst als Pilot (sequenziell), NAV-Überbrückung 9 Monate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CRM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CEO: ein System – Vertrieb: „Salesforce bleibt“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Salesforce bis 03/2028 verlängern + integrieren, CRM-Entscheid 2028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Rückmeldung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Controlling: je Personalnummer – Betriebsrat: lehnt ab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Arbeitsplatzbezogen + Lohngruppen-Mischsatz, Rahmen-BV vor Vertrag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669280" y="5349240"/>
            <a:ext cx="6126480" cy="7315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Calibri"/>
              </a:rPr>
              <a:t>Bewusst KEIN K.o.: Offline-Konfigurator auf dem iPad mit 3D, feste Oberfläche wie KVA-WARE, Anbieter „aus Süddeutschland“ – das sind Lösungsvorgaben oder Präferenzen, keine Anforderungen.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199632"/>
            <a:ext cx="112471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Calibri"/>
              </a:rPr>
              <a:t>Quellen: Anforderungskatalog Rohfassung 12.02.2026; Interviews 01–12; Flipcharts 21.01.2026; Kick-off 02.12.2025; LK-Ergebnis 18.02.2026; BR-Schreiben 09.02.2026. Details: XLSX Blätter 1–3.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55A11"/>
                </a:solidFill>
                <a:latin typeface="Calibri"/>
              </a:rPr>
              <a:t>3 · MARKTÜBERBLICK: LONGLIST → SHORTLIST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11480"/>
            <a:ext cx="1124712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Markt: 16 Optionen geprüft – drei erfüllen alle K.o.-Kriterien und passen zu Größe und Zeitplan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HTWG Konstanz · ERP-Systeme · Fallstudie KVA · Entscheidungsvorlage ERP 2028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486400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16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Longlist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417320"/>
            <a:ext cx="5669280" cy="8686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Mittelstands-ERP für diskrete Fertiger in DACH/CZ + Option 0 (Modernisierung KVA-WARE)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395728"/>
            <a:ext cx="4572000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14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Filter K1/K2: Konfigurator + Projektfertigung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2441448"/>
            <a:ext cx="5669280" cy="8686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raus: Option 0 (KVA-WARE modernisieren), Odoo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419856"/>
            <a:ext cx="3657600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6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Filter K4/K6: Lokalisierung + Partner DE UND CZ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465576"/>
            <a:ext cx="5669280" cy="8686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raus: Infor CSI, Infor LN, Epicor, PSIpenta, ams.erp, HELIOS; Nachrücker: proALPHA, abas (CZ nicht belegt)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4443984"/>
            <a:ext cx="2743200" cy="868680"/>
          </a:xfrm>
          <a:prstGeom prst="rect">
            <a:avLst/>
          </a:prstGeom>
          <a:solidFill>
            <a:srgbClr val="38761D"/>
          </a:solidFill>
          <a:ln>
            <a:noFill/>
          </a:ln>
          <a:effectLst/>
        </p:spPr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Filter Größe, Kosten, Betriebsmodell, Akzeptanz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4489704"/>
            <a:ext cx="5669280" cy="8686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raus: SAP S/4 Public (nur SaaS, kein E-Invoicing CZ), SAP S/4 Private, D365 F&amp;SCM (überdimensioniert)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440680"/>
            <a:ext cx="11338560" cy="6858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4E79"/>
                </a:solidFill>
                <a:latin typeface="Calibri"/>
              </a:rPr>
              <a:t>Shortlist: ① Business Central + Branchenlösung (SaaS, Plan B Hosting, CZ-Lokalisierung von Microsoft)   ② Asseco APplus (Variantenfertigung DE, CZ-Lokalisierung im RFI bestätigen)   ③ IFS Cloud (ETO/Service, EU-Anbieter, SaaS oder kundenbetrieben)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6199632"/>
            <a:ext cx="112471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Calibri"/>
              </a:rPr>
              <a:t>Quellen: Herstellerseiten und Primärquellen (Abruf 10/2026): learn.microsoft.com (BC CZ-Lokalisierung), erp-software.org/applus, ifs.com Partnerverzeichnis, SAP KBA 3744200; vollständige Longlist mit Begründung und Prüfstatus: XLSX Blatt 5, Anhang A2.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55A11"/>
                </a:solidFill>
                <a:latin typeface="Calibri"/>
              </a:rPr>
              <a:t>4 · BEWERTUNGSERGEBNIS: NUTZWERT UND TCO ÜBER 5 JAHRE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11480"/>
            <a:ext cx="1124712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IFS bietet den höchsten Nutzen – Business Central das beste Verhältnis von Nutzen zu Kosten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HTWG Konstanz · ERP-Systeme · Fallstudie KVA · Entscheidungsvorlage ERP 2028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25880"/>
          <a:ext cx="365760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297680" y="1325880"/>
          <a:ext cx="402336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458200" y="1371600"/>
          <a:ext cx="33375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731520"/>
                <a:gridCol w="777240"/>
              </a:tblGrid>
              <a:tr h="487680"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BC + Branchen-lösung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APplus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IFS Cloud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Nutzwert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3,75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3,84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4,09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TCO 5 J.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2,6 Mio. €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3,2 Mio. €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3,8 Mio. €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Nutzwert je Mio. €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1,44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1,21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1,08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Pilsen bis Q3/2027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realistisch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unsicher</a:t>
                      </a:r>
                    </a:p>
                  </a:txBody>
                  <a:tcPr marL="45720" marR="45720" marT="18288" marB="18288"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knapp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Hauptrisiko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Konfigurator über Partner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CZ offen</a:t>
                      </a:r>
                    </a:p>
                  </a:txBody>
                  <a:tcPr marL="45720" marR="45720" marT="18288" marB="18288"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Kosten, Komplexität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526280"/>
            <a:ext cx="5577840" cy="16002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So lesen wir das Ergebnis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• IFS liegt 0,34 Punkte vor BC – vor allem bei ETO, Service und Konfigurator (Phase-2-Themen bzw. PoC-prüfbar).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• IFS kostet rund 1,2 Mio. € (+46 %) mehr; BC ist bei „Fokus Zeit &amp; Pilsen“ gleichauf mit IFS (Sensitivität, A3).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• APplus fällt wegen offener CZ-Lokalisierung zurück – bei Bestätigung im RFI Platz 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4526280"/>
            <a:ext cx="5577840" cy="16002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00000"/>
                </a:solidFill>
                <a:latin typeface="Calibri"/>
              </a:rPr>
              <a:t>Budget: keine Option passt in 1,2 Mio. € oder &lt; 1 Mio. €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• Der Projektauftrag rechnet interne Kosten mit 120 T€ (realistisch 350–450 T€) und nur 3 Jahre Lizenzen.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• Auch die günstige Variante (BC Basis, 2,3 Mio. €) liegt über der CFO-Grenze von 1,5 Mio. €.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• Einordnung: 0,5–0,9 % vom Umsatz p. a.; Nutzen 0,5–0,9 Mio. € p. a. + 3–4 Mio. € Liquidität aus Bestandsabbau.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199632"/>
            <a:ext cx="112471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Calibri"/>
              </a:rPr>
              <a:t>Quellen: Eigene Nutzwertanalyse (10 Kriterien, Gewichte vorab festgelegt) und TCO-Modell, XLSX Blätter 6–9. BC-Preise lt. Microsoft-Preisänderung 11/2025 (USD→EUR); APplus/IFS-Preise nicht öffentlich = gekennzeichnete Annahmen, im RFP zu validieren.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55A11"/>
                </a:solidFill>
                <a:latin typeface="Calibri"/>
              </a:rPr>
              <a:t>5 · EMPFEHLUNG, ROADMAP UND ENTSCHEIDUNGSBEDARF DER GESCHÄFTSFÜHRUNG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11480"/>
            <a:ext cx="1124712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Empfehlung: Business Central + Branchenlösung als Favorit – Vertrag erst nach bestandenem Konfigurator-Test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HTWG Konstanz · ERP-Systeme · Fallstudie KVA · Entscheidungsvorlage ERP 2028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2743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Roadmap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6120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Calibri"/>
              </a:rPr>
              <a:t>Q4/26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721608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Calibri"/>
              </a:rPr>
              <a:t>Q1/27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97096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Calibri"/>
              </a:rPr>
              <a:t>Q2/27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2583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Calibri"/>
              </a:rPr>
              <a:t>Q3/27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8072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Calibri"/>
              </a:rPr>
              <a:t>Q4/27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23560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Calibri"/>
              </a:rPr>
              <a:t>Q1/28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9048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Calibri"/>
              </a:rPr>
              <a:t>Q2/28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4536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Calibri"/>
              </a:rPr>
              <a:t>H2/28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50024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Calibri"/>
              </a:rPr>
              <a:t>2029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572768"/>
            <a:ext cx="2743200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A1A1A"/>
                </a:solidFill>
                <a:latin typeface="Calibri"/>
              </a:rPr>
              <a:t>Sofortmaßnahmen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595959"/>
                </a:solidFill>
                <a:latin typeface="Calibri"/>
              </a:rPr>
              <a:t>E-Rechnung-Konverter, NAV-Notfallsupport, Brugger-Doku, Stammdaten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1627632"/>
            <a:ext cx="950976" cy="292608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ab sofort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011680"/>
            <a:ext cx="2743200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A1A1A"/>
                </a:solidFill>
                <a:latin typeface="Calibri"/>
              </a:rPr>
              <a:t>Ausschreibung + PoC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595959"/>
                </a:solidFill>
                <a:latin typeface="Calibri"/>
              </a:rPr>
              <a:t>RFP, Drehbuch-Demos, Konfigurator-PoC BC vs. IFS, Rahmen-BV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31412" y="2066544"/>
            <a:ext cx="665683" cy="2926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Vertrag 04/27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450591"/>
            <a:ext cx="2743200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A1A1A"/>
                </a:solidFill>
                <a:latin typeface="Calibri"/>
              </a:rPr>
              <a:t>Pilsen (Pilot)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595959"/>
                </a:solidFill>
                <a:latin typeface="Calibri"/>
              </a:rPr>
              <a:t>Template für die Gruppe, NAV-Brücke bis 09/2027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97096" y="2505456"/>
            <a:ext cx="950976" cy="292608"/>
          </a:xfrm>
          <a:prstGeom prst="rect">
            <a:avLst/>
          </a:prstGeom>
          <a:solidFill>
            <a:srgbClr val="38761D"/>
          </a:solidFill>
          <a:ln>
            <a:noFill/>
          </a:ln>
          <a:effectLst/>
        </p:spPr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Go-live 01.10.27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889504"/>
            <a:ext cx="2743200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A1A1A"/>
                </a:solidFill>
                <a:latin typeface="Calibri"/>
              </a:rPr>
              <a:t>Singen + CH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595959"/>
                </a:solidFill>
                <a:latin typeface="Calibri"/>
              </a:rPr>
              <a:t>Kern: Konfigurator, Fertigung, Finanzen, QM, Service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4840" y="2944368"/>
            <a:ext cx="1664208" cy="2926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Go-live 01.04.28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328415"/>
            <a:ext cx="2743200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A1A1A"/>
                </a:solidFill>
                <a:latin typeface="Calibri"/>
              </a:rPr>
              <a:t>Phase 2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595959"/>
                </a:solidFill>
                <a:latin typeface="Calibri"/>
              </a:rPr>
              <a:t>APS, Field-Service-App, Portal/Shop, Instandhaltung, CRM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9048" y="3383279"/>
            <a:ext cx="1426464" cy="292608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ab H2/28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840480"/>
            <a:ext cx="6949440" cy="22860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Warum Business Central?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• Bestes Verhältnis von Nutzen zu Kosten (1,44 Nutzwertpunkte je Mio. € vs. 1,08 bei IFS).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• Einziger Kandidat, mit dem Pilsen vor Ende 2027 realistisch live gehen kann – DataSoft und viele CZ-Partner kennen BC.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• Gleiche Software als SaaS oder beim deutschen Hoster → beantwortet „Cloud mit Plan B“ (IT, GF Technik, BR).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C00000"/>
                </a:solidFill>
                <a:latin typeface="Calibri"/>
              </a:rPr>
              <a:t>Bedingung (Lehre aus 2016):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Vertrag erst, wenn die Branchenlösung den KVA-Baukasten im PoC abbildet. Scheitert der PoC → IFS Cloud (+1,2 Mio. €); APplus nur bei bestätigter CZ-Lokalisierung.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Calibri"/>
              </a:rPr>
              <a:t>Größte Risiken: Konfigurator · Key-User-Kapazität · Stammdaten · revidierte Entscheidungen → Gegenmaßnahmen in A5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35240" y="1280160"/>
            <a:ext cx="4160520" cy="48463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t" wrap="square" lIns="137160" rIns="137160" tIns="137160" bIns="13716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Das muss die Geschäftsführung entscheiden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1  Budget: 5-J.-TCO bis 3,0 Mio. € freigeben (BC 2,6 Mio. € + Reserve) statt 1,2 Mio. €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2  Funktionstiefe oder Kosten/Tempo: BC (Favorit) oder IFS – nach dem PoC im März 2027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3  Termin: Go-live Singen 01.04.2028 statt 01.01.2028; Bereitschaft Brugger + RPG-Dienstleister als Brücke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4  Pilsen zuerst: NAV-Überbrückung mit DataSoft bis 09/2027 verhandeln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5  Seriennummer für alle Antriebe – endgültig, Änderung nur per Lenkungskreis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6  Salesforce 1 Jahr verlängern; CRM-Entscheidung 2028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7  Key User zu 20–30 % freistellen, externer Projektleiter, Exportkontrollbeauftragten benennen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8  E-Rechnungs-Konverter für KVA-WARE sofort beauftragen (Pflicht ab 01.01.2027)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199632"/>
            <a:ext cx="112471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Calibri"/>
              </a:rPr>
              <a:t>Quellen: Eigene Empfehlung auf Basis XLSX Blätter 1–9; Termine aus Mail Nováková 04.02.2026, Int. 04 (Brenner), LK 18.02.2026; Nächste Schritte bis Vertrag: Anhang A6.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55A11"/>
                </a:solidFill>
                <a:latin typeface="Calibri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11480"/>
            <a:ext cx="1124712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Anhang A1 – Die wichtigsten Widersprüche (Auszug aus 42, vollständig in XLSX Blatt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HTWG Konstanz · ERP-Systeme · Fallstudie KVA · Entscheidungsvorlage ERP 2028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A1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88720"/>
          <a:ext cx="114757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051560"/>
                <a:gridCol w="3017520"/>
                <a:gridCol w="3291840"/>
                <a:gridCol w="3657600"/>
              </a:tblGrid>
              <a:tr h="36576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Thema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Aussage A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Aussage B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Lösungsvorschlag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W-01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Projektauftrag v1.2 Kap. 5: 1,2 Mio. € (Einführung + 3 J. Lizenzen, interne Kosten 120 T€)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Int. 01 Kessler: „unter 1 Mio.“; Int. 02 Vogt: „mehr als 1 Mio. mache ich nicht mit“; Int. 03 / Mail Haller 19.01.: TCO 5 J. max. 1,5 Mio.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Einheitliche Bezugsgröße 5-J.-TCO inkl. interner Kosten (LK-Beschluss 18.02.). Obergrenze auf Basis TCO-Abschätzung neu festlegen (unsere Spanne 2,2–3,8 Mio. €), Budget gegen Business Case stellen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W-02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Interne Kosten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Projektauftrag Kap. 5: interne Freistellungen in 1,2 Mio. enthalten (120 T€)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Mail Haller 19.01.: realistisch 350–450 T€ (10 Key User, 18 Mon., 20–30 %)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In TCO 400–500 T€ interne Kosten ansetzen; Freistellung vertraglich mit Linienvorgesetzten vereinbaren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W-03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Go-live-Termin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Projektauftrag / Kick-off: Go-live Singen 01.01.2028 „nicht verhandelbar“ (Kessler)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Int. 04 Brenner: realistisch Mitte 2028; Int. 02 Vogt: „wird nicht klappen“; Meilenstein „Vertrag 30.09.2026“ ist bereits verstrichen (Stand 10/2026)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Go-live Singen 01.04.2028 planen (Puffer bis 01.07.2028); Überbrückung Brugger-Wissen durch Dokumentation + Bereitschaftsvertrag (RPG-Dienstleister, ggf. Fa. aus Ulm)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W-04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Verlängerung Brugger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IT-Historie Kap. 3: Brugger: Verlängerung „ausgeschlossen“; Int. 01 Kessler: „will ich nicht“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Int. 03 Haller: 6–12 Monate „verhandelbar“; Int. 04 Brugger: „Wenn es brennt, rufen Sie an. Aber ich mache keinen Vertrag.“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Kein Freelancer-Vertrag als Plan A. Stattdessen: Wissensdokumentation 2027 (versteckte Preislogik, Nachtläufe), Rufbereitschaft auf Stundenbasis anbieten, externer RPG-Dienstleister als Backup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W-05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Scope Pilsen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Projektauftrag Kap. 4/8: Pilsen Phase 2, Go-live 2029; Vogt Mail 04.02.: „NAV läuft doch“; Brenner: parallel „unmöglich“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Int. 11 / Mail Nováková 04.02.: Partner kündigt 31.12.2026 schriftlich, Server 2016 ohne Failover, „We cannot wait until 2029“; Haller: Konsolidierung ab Go-live; Kessler: „vielleicht war das falsch“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Pilsen als Pilot ZUERST (sequenziell, nicht parallel): Go-live Pilsen Q3/2027 auf dem Ziel-ERP; NAV-Betrieb bis dahin über befristeten Notfallsupport + Virtualisierung/Backup des Servers absichern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W-06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Brückenlösung Pilsen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Mail Nováková 04.02.: DataSoft bietet Migration auf Business Central für ca. 2,1 Mio. CZK, 6 Monate; Dvořák: „schnelles separates Cloud-ERP“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Int. 11 Nováková: „Two migrations in three years? No.“; Vogt: „nichts unterschreiben“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Keine isolierte Brücke. Wenn BC Gruppen-ERP wird, ist das DataSoft-Angebot ein möglicher Baustein des Gruppen-Rollouts (Template statt Insel) – sonst nur Notfall-Support verhandeln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W-08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Betriebsmodell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Int. 03 Haller: „Ganz klar SaaS“; Int. 01 Kessler: Cloud „selbstverständlich“; Int. 11 Pilsen: Cloud (keine IT)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Int. 04 Brenner: Private Cloud DE oder On-Prem, „gegen Cloud ohne Plan B“; Int. 02 Vogt: „Cloud ist Miete auf Lebenszeit“, Kauflizenz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Kein K.o. (Kick-off/LK-Beschluss). Bewertungskriterium „SaaS mit Plan B“: EU-Datenhaltung, Exit-Klausel, Wechselmöglichkeit Hosting/On-Prem, Offline-Puffer, 2. Internetleitung (18 T€/J.)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W-10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Seriennummern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Lastenheft 2015: „wird nicht benötigt“ (Vogt); Int. 02 Vogt: für Standard „Bürokratie“; Int. 08 Hummel: nur Sonderantriebe, „nicht abtippen“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Int. 09 Seitz: MUSS für alle Antriebe (Installed Base, Wartungsverträge 41→300); Int. 10 Rieger: MUSS (Bahn, Wehrtechnik, Rückruf 2024 = 180 T€)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Seriennummer für ALLE Antriebe – automatisch vergeben beim FA-Abschluss / Typenschilddruck (Fertigungsnummer = Seriennummer), Erfassung per Scan → kein Mehraufwand im Lager. Entscheidung schriftlich durch GF, nicht revidierbar ohne LK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W-16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Rückmeldung personenbezogen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P-010 / Int. 03 Arnold: Personalnummer je Arbeitsgang für Ist-Lohnkosten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Int. 12 / BR-Schreiben 09.02.: keine Leistungskontrolle, BR stimmt Rückmeldung je Personalnummer nicht zu (§ 87 Abs. 1 Nr. 6 BetrVG); Int. 06 Lang: „Arbeitsplatz reicht“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Rückmeldung arbeitsplatz-/gruppenbezogen; Ist-Kosten über Lohngruppen-Mischsätze je Kostenstelle; Auswertungen erst ab 5 Personen – in Rahmen-BV regeln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W-17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Rahmen-Betriebsvereinbarung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BR-Schreiben 09.02. / Int. 12: Rahmen-BV IT vor Vertragsabschluss, Entwurf bis Juni 2026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Status Entwurf unbekannt (kein Dokument im Fallpaket); Vertragsziel lt. Projektauftrag 30.09.2026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Status klären (Rückfrage GF); BV-Entwurf parallel zur RFP-Phase, 2 BR-Mitglieder in Drehbuch-Demos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W-18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Modernisierung KVA-WARE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Int. 02 / Mail Vogt 20.01.: RPG→Java-Migration für 300–400 T€; „Von Standard-ERP stand nichts im Protokoll“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Beiratsprotokoll Q3/2025: Beschluss = Abhängigkeit lösen + zukunftsfähiges ERP, ≥ 3 Alternativen; „Standard-ERP“ nur in der Diskussion; Kessler: keine Option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Modernisierung als „Option 0“ transparent bewerten (scheitert an 5 von 8 K.o.-Kriterien: Konfigurator, Mandanten, Lokalisierung CZ, Serien/Chargen, Partner) – so wird Vogt mitgenommen, statt übergangen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W-34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E-Rechnung Versand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IT-Architektur Kap. 5: Versandpflicht „ab 2027/2028 noch offen“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Rechtslage: Versandpflicht ab 01.01.2027 für Unternehmen mit Vorjahresumsatz &gt; 800 T€ (KVA betroffen); EDI bis Ende 2027 zulässig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Sofortmaßnahme Q4/2026: ZUGFeRD/XRechnung-Konverter auf KVA-WARE-Druckausgabe (Dienstleister/ELO); nicht auf Go-live warten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W-39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Projektauftrag nicht unterschrieben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Projektauftrag v1.2: „freigegeben durch GF“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Unterschrift Vogt fehlt („wenn ich sehe, dass die Auswahl ordentlich gemacht wird“)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Vogt in Drehbuch-Demos/Bewertung aktiv einbinden; Unterschrift als Meilenstein vor RFP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55A11"/>
                </a:solidFill>
                <a:latin typeface="Calibri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11480"/>
            <a:ext cx="1124712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Anhang A2 – K.o.-Prüfung: Shortlist und Option 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HTWG Konstanz · ERP-Systeme · Fallstudie KVA · Entscheidungsvorlage ERP 2028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A2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2011680"/>
                <a:gridCol w="1645920"/>
                <a:gridCol w="1463040"/>
                <a:gridCol w="2194560"/>
              </a:tblGrid>
              <a:tr h="426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K.o.-Kriterium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BC + Branchenlösung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Asseco APplus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IFS Cloud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Option 0 KVA-WARE modernisiert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K1 Integrierte, regelbasierte Variantenkonfiguration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 über ISV – PoC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45720" marR="45720" marT="18288" marB="18288">
                    <a:solidFill>
                      <a:srgbClr val="FFC7C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K2 Projektfertigung Engineer-to-Order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 (Projekte, einfacher)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✗ (Excel)</a:t>
                      </a:r>
                    </a:p>
                  </a:txBody>
                  <a:tcPr marL="45720" marR="45720" marT="18288" marB="18288">
                    <a:solidFill>
                      <a:srgbClr val="FFC7C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K3 Mehrere Gesellschaften &amp; Währungen in einem System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45720" marR="45720" marT="18288" marB="18288">
                    <a:solidFill>
                      <a:srgbClr val="FFC7C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K4 Lokalisierung DE/CZ/CH durch Hersteller oder zertifizierten Partner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 (Microsoft CZ)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? im RFI</a:t>
                      </a:r>
                    </a:p>
                  </a:txBody>
                  <a:tcPr marL="45720" marR="45720" marT="18288" marB="18288">
                    <a:solidFill>
                      <a:srgbClr val="FFEB9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45720" marR="45720" marT="18288" marB="18288">
                    <a:solidFill>
                      <a:srgbClr val="FFC7C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K5 Durchgängige Serien- und Chargenverfolgung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45720" marR="45720" marT="18288" marB="18288">
                    <a:solidFill>
                      <a:srgbClr val="FFC7C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K6 Implementierungspartner in DE UND CZ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? im RFI</a:t>
                      </a:r>
                    </a:p>
                  </a:txBody>
                  <a:tcPr marL="45720" marR="45720" marT="18288" marB="18288">
                    <a:solidFill>
                      <a:srgbClr val="FFEB9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45720" marR="45720" marT="18288" marB="18288">
                    <a:solidFill>
                      <a:srgbClr val="FFC7C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K7 Datenverarbeitung in der EU, transparent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 EU-RZ / Hosting DE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 DE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 EU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 On-Prem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K8 Offene Schnittstellen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teilweise</a:t>
                      </a:r>
                    </a:p>
                  </a:txBody>
                  <a:tcPr marL="45720" marR="45720" marT="18288" marB="18288">
                    <a:solidFill>
                      <a:srgbClr val="FFEB9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303520"/>
            <a:ext cx="11247120" cy="8229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Option 0 (RPG→Java-Migration, 300–400 T€ lt. GF Technik) wurde bewusst geprüft: Sie verlagert die Abhängigkeit nur auf einen Dienstleister und erfüllt 5 von 8 K.o.-Kriterien nicht. Nachrücker bei Ausfall eines Kandidaten: proALPHA, abas (CZ-Präsenz im RFI klären).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55A11"/>
                </a:solidFill>
                <a:latin typeface="Calibri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11480"/>
            <a:ext cx="1124712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Anhang A3 – Nutzwertanalyse im Detail und Sensitivität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HTWG Konstanz · ERP-Systeme · Fallstudie KVA · Entscheidungsvorlage ERP 2028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A3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88720"/>
          <a:ext cx="694944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40080"/>
                <a:gridCol w="548640"/>
                <a:gridCol w="640080"/>
                <a:gridCol w="548640"/>
              </a:tblGrid>
              <a:tr h="3886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Kriterium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Gew. %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BC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APplus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IFS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Variantenkonfiguration &amp; Variantenstückliste (CTO)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Fertigung &amp; Planung (MRP, Kapazität, Engpass Härterei, Mehrwerk, Rückmeldung)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Projektgeschäft ETO (Meilensteine, Anzahlung, Nachkalkulation)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Service &amp; Installed Base (Seriennr., Verträge, Field Service)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Qualität &amp; Rückverfolgbarkeit (Chargen, Prüfplanung, 8D)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Finanzen, Mandanten, Lokalisierung DE/CZ/CH, E-Rechnung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Integration &amp; Technologie (PDM, Salesforce, API, Power BI, Entra ID)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Betriebsmodell &amp; Datensouveränität (SaaS mit Plan B, EU, Offline-Puffer)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Partner DE+CZ &amp; zeitliche Machbarkeit (Pilsen bis Q3/2027)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Usability Shopfloor/Lager, CZ-Oberfläche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Nutzwert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3,75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3,84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4,09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89520" y="1188720"/>
          <a:ext cx="4206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640080"/>
                <a:gridCol w="640080"/>
                <a:gridCol w="640080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Szenario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BC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APplus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IFS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Basis (Empfehlung)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3,75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3,84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4,09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Fokus Produktion (Vogt/Lang)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3,53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4,05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4,14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Fokus Zeit &amp; Pilsen (Nováková/Haller)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3,97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3,62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3,97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Fokus Souveränität (Brenner/BR)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3,70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4,04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4,24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589520" y="3154680"/>
            <a:ext cx="4206240" cy="27432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F4E79"/>
                </a:solidFill>
                <a:latin typeface="Calibri"/>
              </a:rPr>
              <a:t>Methodik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1A1A1A"/>
                </a:solidFill>
                <a:latin typeface="Calibri"/>
              </a:rPr>
              <a:t>• Gewichte vor der Bewertung festgelegt, abgeleitet aus Umsatzanteilen (CTO 60 %) und Fristen.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1A1A1A"/>
                </a:solidFill>
                <a:latin typeface="Calibri"/>
              </a:rPr>
              <a:t>• Skala 1–5: 3 = nur mit Partner-Erweiterung, 5 = Standard mit Marktstärke.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1A1A1A"/>
                </a:solidFill>
                <a:latin typeface="Calibri"/>
              </a:rPr>
              <a:t>• Kosten bewusst NICHT im Nutzwert, sondern getrennt als TCO → Kennzahl Nutzwert je Mio. €.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1A1A1A"/>
                </a:solidFill>
                <a:latin typeface="Calibri"/>
              </a:rPr>
              <a:t>• Punkte beruhen auf Herstellerangaben und Sekundärquellen – in Drehbuch-Demos zu bestätigen.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55A11"/>
                </a:solidFill>
                <a:latin typeface="Calibri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11480"/>
            <a:ext cx="1124712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Anhang A4 – TCO-Modell: Annahmen offengelegt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HTWG Konstanz · ERP-Systeme · Fallstudie KVA · Entscheidungsvorlage ERP 2028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A4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097280"/>
          <a:ext cx="114757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051560"/>
                <a:gridCol w="685800"/>
                <a:gridCol w="685800"/>
                <a:gridCol w="685800"/>
                <a:gridCol w="685800"/>
                <a:gridCol w="4937760"/>
              </a:tblGrid>
              <a:tr h="232756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Einheit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BC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BC Basis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APplus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IFS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Quelle / Annahme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Vollnutzer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Anzahl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Mengengerüst bereinigt (W-07)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Light-/Team-User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Anzahl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Mengengerüst bereinigt (W-07)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Shopfloor-Geräte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Anzahl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Annahme: 30 geteilte Tablets/Terminals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Preis Vollnutzer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€/Monat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130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BC: Premium 110 USD lt. Microsoft-Preiserhöhung 11/2025 ≈ 100 €; APplus/IFS: ANNAHME (keine öffentlichen Listenpreise)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Preis Light-User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€/Monat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7,5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7,5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BC Team Member 8 USD; Rest ANNAHME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Preis Gerät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€/Monat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BC Device 45 USD; Rest ANNAHME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Branchen-Add-ons (Konfigurator, APS, QM, Service mobil)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€/Vollnutzer/Monat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ANNAHME: ISV-Erweiterungen auf AppSource; bei APplus/IFS im Standard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Hosting Private Cloud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€/Jahr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36.000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ANNAHME APplus im DE-RZ des Anbieters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Subskriptionsanteil Jahr 1 (2027)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40 %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40 %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40 %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40 %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Ramp-up: Projekt- und Pilsen-Nutzer ab Q2/2027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Externe Beratertage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PT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420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330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550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700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ANNAHME aus Projektgröße (CTO+ETO+3 Länder); IFS umfangreicher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Tagessatz extern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€/PT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1.150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1.150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1.250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1.350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ANNAHME Marktüblich DE/CZ-Mischsatz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Interne Aufwände (Key User, IT)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€ einmalig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400.000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350.000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450.000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500.000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Mail Haller 19.01.: 350–450 T€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Datenbereinigung &amp; Migration (extern)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€ einmalig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80.000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70.000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80.000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90.000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ANNAHME; Stücklisten-Qualität schlecht (Int. 04)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Schnittstellen (PDM, Salesforce, EDI, Kardex, Carrier)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€ einmalig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120.000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100.000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120.000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130.000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ANNAHME 5–6 Schnittstellen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Hardware Shopfloor/Scanner (BDE-Ersatz)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€ einmalig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90.000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90.000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90.000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90.000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ANNAHME 30 Tablets + 25 Scanner + Drucker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Schulung &amp; Change (inkl. BR-Forderung)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€ einmalig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40.000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35.000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45.000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50.000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ANNAHME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Risikopuffer auf Einmalkosten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Erfahrungswert; 2016: Kostenüberschreitung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Anteil Einmalkosten in Jahr 1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60 %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60 %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60 %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60 %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Rest in Jahr 2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Betrieb/Support Partner (AMS)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€/Jahr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40.000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35.000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30.000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45.000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ANNAHME; Jahr 1 zu 50 %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2. Internetleitung Singen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€/Jahr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18.000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18.000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18.000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18.000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Int. 04 Brenner: ca. 18 T€/Jahr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232764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TCO 5 Jahre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€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2,60 Mio.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2,26 Mio.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3,17 Mio.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3,80 Mio.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A1A1A"/>
                          </a:solidFill>
                          <a:latin typeface="Calibri"/>
                        </a:rPr>
                        <a:t>Summe 2027–2031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55A11"/>
                </a:solidFill>
                <a:latin typeface="Calibri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11480"/>
            <a:ext cx="1124712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Anhang A5 – Risiken und Gegenmaßnahmen (inkl. Lehren aus „KVA neu“ 2016)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HTWG Konstanz · ERP-Systeme · Fallstudie KVA · Entscheidungsvorlage ERP 2028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A5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88720"/>
          <a:ext cx="114757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017520"/>
                <a:gridCol w="4983480"/>
                <a:gridCol w="1280160"/>
              </a:tblGrid>
              <a:tr h="48463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Risiko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Ursache 2016 / Fundstelle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Gegenmaßnahme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Verantwortlich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Konfigurator nicht abbildbar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3 Konzepte, keines umgesetzt (IT-Historie)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PoC mit 3 realen Typenschlüsseln VOR Vertrag; Regelwerk-Owner Konstruktion (Dr. Weber)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LK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Key User nicht verfügbar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Auftragsspitze 2015; Int. 05: 25 % Doppelerfassung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20–30 % Freistellung schriftlich, Vertretung, Q4-Spitze im Plan meiden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GF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Stammdatenqualität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Dubletten, keine Revisionen; 38.000 Stücklisten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Bereinigung ab sofort, nur verwendete Stücklisten migrieren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IT/AV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Revidierte Entscheidungen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GF Technik revidierte u. a. Seriennummern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Entscheidungslog, Änderung nur per LK-Beschluss; Vogt unterschreibt Projektauftrag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GF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Unerfüllbare Abnahme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340 Listen als Abnahmekriterium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Top-40-Liste aus Nutzungsstatistik, Rest Power BI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PL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Wissensverlust Brugger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Versteckte Preislogik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Dokumentation bis 06/2027, Bereitschaft auf Stundenbasis, RPG-Dienstleister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Ausfall NAV Pilsen vor Go-live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Server 2016, Partner-Kündigung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Notfallsupport bis 09/2027, VM-Backup des NAV-Servers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Werk Pilsen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Betriebsrat blockiert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BDE 2012: Einigungsstelle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Rahmen-BV parallel zum RFP, BR in Demos, keine Personalnummer je AG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GF/BR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Internetausfall (SaaS)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 Ausfälle 2025 &gt; 4 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2. Leitung (18 T€/J.), Offline-Puffer für Rückmeldung/Versand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55A11"/>
                </a:solidFill>
                <a:latin typeface="Calibri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11480"/>
            <a:ext cx="1124712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Anhang A6 – Nächste Schritte bis zur Vertragsunterschrift (April 2027)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HTWG Konstanz · ERP-Systeme · Fallstudie KVA · Entscheidungsvorlage ERP 2028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A6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88720"/>
          <a:ext cx="114757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7315200"/>
                <a:gridCol w="3063240"/>
              </a:tblGrid>
              <a:tr h="5257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Wann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Schritt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Ergebnis</a:t>
                      </a:r>
                    </a:p>
                  </a:txBody>
                  <a:tcPr marL="45720" marR="45720" marT="18288" marB="18288">
                    <a:solidFill>
                      <a:srgbClr val="1F4E79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Dez 2026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Beirat: Entscheidungsvorlage, Budgetrahmen, Termine (Folie 5)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Mandat für Ausschreibung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Dez 2026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Sofortmaßnahmen: E-Rechnungs-Konverter, NAV-Notfallsupport, Brugger-Nutzungsstatistik + Doku, Stammdaten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Fristen 2027 entschärft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Jan 2027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Lastenheft finalisieren (Basis XLSX Blatt 3), RFP an 3 Anbieter + Partner DE/CZ; Rückfrage CZ-Lokalisierung APplus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Vergleichbare Angebote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Feb 2027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Drehbuch-Demos (je 2 Tage) mit KVA-Szenarien: Baukasten, Sonderantrieb, Härterei, Rückruf, IC Pilsen; Meister + 2 BR-Mitglieder bewerten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Punkte der Nutzwertanalyse bestätigt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Mär 2027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PoC Konfigurator (2–3 Wochen, Favorit + 1), Referenzbesuche DE und CZ, Festpreis-/Budgetangebote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Go/No-Go je Kandidat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Mär 2027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Rahmen-Betriebsvereinbarung IT abschließen; Salesforce 1 Jahr verlängern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Voraussetzung Vertrag</a:t>
                      </a:r>
                    </a:p>
                  </a:txBody>
                  <a:tcPr marL="45720" marR="45720" marT="18288" marB="18288">
                    <a:solidFill>
                      <a:srgbClr val="EEF3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Apr 2027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Vertragsverhandlung (Exit-Klausel, AVV, SLA, Preisbindung 5 J.), LK-Beschluss, Unterschrift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Projektstart Pilsen-Pilot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5532120"/>
            <a:ext cx="11475720" cy="594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Calibri"/>
              </a:rPr>
              <a:t>Offene Rückfragen an die GF (Rollenspiel): Status Rahmen-BV? · Gilt 01.01.2028 auch bei Verschiebung des Vertrags? · Ist die Obergrenze 1,5 Mio. € TCO beschlossen oder Wunsch? · NIS2-Registrierung erfolgt? · Ist DataSoft zu befristetem Notfallsupport bereit?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55A11"/>
                </a:solidFill>
                <a:latin typeface="Calibri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11480"/>
            <a:ext cx="1124712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Anhang A7 – Quellen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HTWG Konstanz · ERP-Systeme · Fallstudie KVA · Entscheidungsvorlage ERP 2028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A7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• Fallpaket KVA (HTWG Konstanz, ERP-Systeme): Aufgabenstellung, Ordner 01–07 inkl. Interviews 01–12, E-Mail-Verlauf, Beiratsprotokoll Q3/2025, Anforderungskatalog Rohfassung, Helpdesk-Export 2025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• Microsoft Learn: Czech Local Functionality – Business Central (learn.microsoft.com/…/localfunctionality/czech/czech-local-functionality)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• Business-Central-Preise ab 01.11.2025 (Essentials 80 USD, Premium 110 USD, Team Member 8 USD): alphavima.com/blog/business-central-pricing-guide; netsmartz.com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• Asseco APplus: erp-software.org/software/applus; applus-erp.de · Asseco Solutions CZ / HELIOS: forbes.cz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• IFS: ifs.com Partnerverzeichnis (CDC Data, CZ/SK); lupa.cz Pressemitteilung „IFS slaví 10 let na českém a slovenském trhu“; softwareconnect.com Review IFS Cloud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• SAP: Knowledge Base Article 3744200 (kein Outbound E-Invoicing CZ in DRC, S/4HANA Cloud Public Edition)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• proALPHA: proalpha.com; siemens.com Ecosystem · abas/Forterro: industrial-production.de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• E-Rechnung: IHK Frankfurt „E-Rechnungspflicht ab 2025“; BMF-Schreiben zur E-Rechnung (Übergangsregeln § 27 Abs. 38 UStG)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• NIS2UmsuCG in Kraft seit 06.12.2025: usd.de; secjur.com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• Hinweis: Alle Herstellerangaben Stand Abruf 10/2026; Preise für APplus und IFS sind nicht öffentlich und als Annahmen gekennzeichnet.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