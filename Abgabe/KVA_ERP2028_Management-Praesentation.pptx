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/>
              <a:t>Nutzwert (gewichtet, max. 5,0)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Nutzwert (max. 5,0)</c:v>
                </c:pt>
              </c:strCache>
            </c:strRef>
          </c:tx>
          <c:spPr>
            <a:solidFill>
              <a:srgbClr val="1F4E79"/>
            </a:solidFill>
          </c:spPr>
          <c:cat>
            <c:strRef>
              <c:f>Sheet1!$A$2:$A$4</c:f>
              <c:strCache>
                <c:ptCount val="3"/>
                <c:pt idx="0">
                  <c:v>Business Central + ISV</c:v>
                </c:pt>
                <c:pt idx="1">
                  <c:v>Asseco APplus</c:v>
                </c:pt>
                <c:pt idx="2">
                  <c:v>IFS Cloud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3.75</c:v>
                </c:pt>
                <c:pt idx="1">
                  <c:v>3.84</c:v>
                </c:pt>
                <c:pt idx="2">
                  <c:v>4.09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0"/>
          <c:min val="0.0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/>
              <a:t>TCO 2027–2031 in Mio. €</a:t>
            </a:r>
          </a:p>
        </c:rich>
      </c:tx>
      <c:layout/>
      <c:overlay val="0"/>
    </c:title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Subskription</c:v>
                </c:pt>
              </c:strCache>
            </c:strRef>
          </c:tx>
          <c:spPr>
            <a:solidFill>
              <a:srgbClr val="1F4E79"/>
            </a:solidFill>
          </c:spPr>
          <c:cat>
            <c:strRef>
              <c:f>Sheet1!$A$2:$A$5</c:f>
              <c:strCache>
                <c:ptCount val="4"/>
                <c:pt idx="0">
                  <c:v>BC + Branchen-lösung</c:v>
                </c:pt>
                <c:pt idx="1">
                  <c:v>BC Basis (günstig)</c:v>
                </c:pt>
                <c:pt idx="2">
                  <c:v>APplus</c:v>
                </c:pt>
                <c:pt idx="3">
                  <c:v>IFS Cloud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0.93</c:v>
                </c:pt>
                <c:pt idx="1">
                  <c:v>0.84</c:v>
                </c:pt>
                <c:pt idx="2">
                  <c:v>1.25</c:v>
                </c:pt>
                <c:pt idx="3">
                  <c:v>1.43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Einführung inkl. Puffer</c:v>
                </c:pt>
              </c:strCache>
            </c:strRef>
          </c:tx>
          <c:spPr>
            <a:solidFill>
              <a:srgbClr val="C55A11"/>
            </a:solidFill>
          </c:spPr>
          <c:cat>
            <c:strRef>
              <c:f>Sheet1!$A$2:$A$5</c:f>
              <c:strCache>
                <c:ptCount val="4"/>
                <c:pt idx="0">
                  <c:v>BC + Branchen-lösung</c:v>
                </c:pt>
                <c:pt idx="1">
                  <c:v>BC Basis (günstig)</c:v>
                </c:pt>
                <c:pt idx="2">
                  <c:v>APplus</c:v>
                </c:pt>
                <c:pt idx="3">
                  <c:v>IFS Cloud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1.39</c:v>
                </c:pt>
                <c:pt idx="1">
                  <c:v>1.18</c:v>
                </c:pt>
                <c:pt idx="2">
                  <c:v>1.69</c:v>
                </c:pt>
                <c:pt idx="3">
                  <c:v>2.08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Betrieb</c:v>
                </c:pt>
              </c:strCache>
            </c:strRef>
          </c:tx>
          <c:spPr>
            <a:solidFill>
              <a:srgbClr val="A6A6A6"/>
            </a:solidFill>
          </c:spPr>
          <c:cat>
            <c:strRef>
              <c:f>Sheet1!$A$2:$A$5</c:f>
              <c:strCache>
                <c:ptCount val="4"/>
                <c:pt idx="0">
                  <c:v>BC + Branchen-lösung</c:v>
                </c:pt>
                <c:pt idx="1">
                  <c:v>BC Basis (günstig)</c:v>
                </c:pt>
                <c:pt idx="2">
                  <c:v>APplus</c:v>
                </c:pt>
                <c:pt idx="3">
                  <c:v>IFS Cloud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0.27</c:v>
                </c:pt>
                <c:pt idx="1">
                  <c:v>0.25</c:v>
                </c:pt>
                <c:pt idx="2">
                  <c:v>0.23</c:v>
                </c:pt>
                <c:pt idx="3">
                  <c:v>0.29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.0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5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Einstieg (ca. 2 Min.): Frau Dr. Kessler, Herr Vogt, Frau Haller, Herr Brenner – Sie haben uns gebeten, die Vorauswahl vorzubereiten. Zuerst: Warum jetzt? Fünf Fristen bis Ende 2027 – die wichtigste ist der Ruhestand von Herrn Brugger. Neu für Sie: Die E-Rechnung muss KVA schon ab 01.01.2027 versenden, nicht erst 2028. Und wir sagen offen: 2016 sind 940 T€ ohne Ergebnis geblieben – unser Vorschlag ist so gebaut, dass sich diese Fehler nicht wiederholen.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Anforderungen (ca. 2 Min.): Wir haben alle 111 Wünsche sortiert. Nur 8 sind K.o. – das sind die Dinge, ohne die KVA nicht arbeiten kann. Herr Vogt, der Konfigurator ist K.o.-Kriterium Nr. 1, genau wie Sie es gefordert haben. Frau Nováková, CZ-Lokalisierung und CZ-Oberfläche sind K.o. Fünf Konflikte müssen Sie als GF entscheiden – unsere Vorschläge stehen rechts. Viele Infos im Material waren veraltet oder irreführend (Anhang A9).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Markt (ca. 1,5 Min.): 16 Optionen, auch die Modernisierung von KVA-WARE, Herr Vogt – die haben wir ernsthaft geprüft. Sie scheitert an 5 von 8 K.o.-Kriterien. Die meisten Anbieter scheiden aus, weil sie keinen Partner in Tschechien haben. Übrig bleiben drei: Business Central, APplus und IFS.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Bewertung (ca. 2 Min.): IFS kann funktional am meisten, kostet aber 1,2 Mio. € mehr. Business Central hat das beste Verhältnis von Nutzen zu Kosten. Frau Haller, wir haben Ihre 5-Jahres-TCO-Methode übernommen – und müssen ehrlich sagen: Mit 1,5 Mio. € ist keine seriöse Lösung machbar. Selbst in der Logik des Projektauftrags (Einführung + 3 Jahre Lizenzen) kostet BC rund 1,9 Mio. €, weil die internen Kosten mit 120 T€ viel zu niedrig angesetzt waren.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Empfehlung (ca. 2,5 Min.): Business Central als Favorit – aber erst unterschreiben, wenn der Konfigurator im Test mit dem echten Baukasten funktioniert. Herr Vogt, Sie bewerten diesen Test. Pilsen geht zuerst live, Singen am 01.04.2028. Herr Brenner, Ihr Plan B: dieselbe Software kann beim deutschen Hoster laufen. Rechts stehen die acht Entscheidungen, die heute bei Ihnen liegen – allen voran Budget und Termin.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109728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C55A11"/>
                </a:solidFill>
                <a:latin typeface="Calibri"/>
              </a:rPr>
              <a:t>1 · AUSGANGSLAGE UND HANDLUNGSDRUCK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F4E79"/>
                </a:solidFill>
                <a:latin typeface="Calibri"/>
              </a:rPr>
              <a:t>Warum jetzt? Bis Ende 2027 laufen fünf Fristen ab – das Alt-ERP kann keine davon halten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Calibri"/>
              </a:rPr>
              <a:t>HTWG Konstanz · ERP-Systeme · Fallstudie KVA · Entscheidungsvorlage ERP 2028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73952"/>
            <a:ext cx="64008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Calibri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6560" y="91440"/>
            <a:ext cx="5029200" cy="310896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1F4E79"/>
                </a:solidFill>
                <a:latin typeface="Calibri"/>
              </a:rPr>
              <a:t>Gruppe: [Name 1, Matr.-Nr.] · [Name 2, Matr.-Nr.] · [Name 3, Matr.-Nr.]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40280"/>
            <a:ext cx="6949440" cy="457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1560" y="2157984"/>
            <a:ext cx="201168" cy="20116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463040"/>
            <a:ext cx="137160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C00000"/>
                </a:solidFill>
                <a:latin typeface="Calibri"/>
              </a:rPr>
              <a:t>31.12.2026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A1A1A"/>
                </a:solidFill>
                <a:latin typeface="Calibri"/>
              </a:rPr>
              <a:t>NAV-Partner Pilsen kündigt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468880"/>
            <a:ext cx="1371600" cy="9144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Calibri"/>
              </a:rPr>
              <a:t>Server 2016, kein Failover – Werk liefert 40 % der Gehäuse</a:t>
            </a:r>
          </a:p>
        </p:txBody>
      </p:sp>
      <p:sp>
        <p:nvSpPr>
          <p:cNvPr id="12" name="Oval 11"/>
          <p:cNvSpPr/>
          <p:nvPr/>
        </p:nvSpPr>
        <p:spPr>
          <a:xfrm>
            <a:off x="2468880" y="2157984"/>
            <a:ext cx="201168" cy="20116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965960" y="1463040"/>
            <a:ext cx="137160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C00000"/>
                </a:solidFill>
                <a:latin typeface="Calibri"/>
              </a:rPr>
              <a:t>01.01.2027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A1A1A"/>
                </a:solidFill>
                <a:latin typeface="Calibri"/>
              </a:rPr>
              <a:t>Pflicht E-Rechnungs-Versand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65960" y="2468880"/>
            <a:ext cx="1371600" cy="9144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Calibri"/>
              </a:rPr>
              <a:t>gilt für KVA schon 2027 (Umsatz &gt; 800 T€) – nicht erst 2028</a:t>
            </a:r>
          </a:p>
        </p:txBody>
      </p:sp>
      <p:sp>
        <p:nvSpPr>
          <p:cNvPr id="15" name="Oval 14"/>
          <p:cNvSpPr/>
          <p:nvPr/>
        </p:nvSpPr>
        <p:spPr>
          <a:xfrm>
            <a:off x="3886200" y="2157984"/>
            <a:ext cx="201168" cy="201168"/>
          </a:xfrm>
          <a:prstGeom prst="ellipse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83280" y="1463040"/>
            <a:ext cx="137160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C55A11"/>
                </a:solidFill>
                <a:latin typeface="Calibri"/>
              </a:rPr>
              <a:t>2027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A1A1A"/>
                </a:solidFill>
                <a:latin typeface="Calibri"/>
              </a:rPr>
              <a:t>BDE-Terminals am Ende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2468880"/>
            <a:ext cx="1371600" cy="9144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Calibri"/>
              </a:rPr>
              <a:t>Ersatzteile nur noch gebraucht (eBay)</a:t>
            </a:r>
          </a:p>
        </p:txBody>
      </p:sp>
      <p:sp>
        <p:nvSpPr>
          <p:cNvPr id="18" name="Oval 17"/>
          <p:cNvSpPr/>
          <p:nvPr/>
        </p:nvSpPr>
        <p:spPr>
          <a:xfrm>
            <a:off x="5303520" y="2157984"/>
            <a:ext cx="201168" cy="201168"/>
          </a:xfrm>
          <a:prstGeom prst="ellipse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00600" y="1463040"/>
            <a:ext cx="137160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C55A11"/>
                </a:solidFill>
                <a:latin typeface="Calibri"/>
              </a:rPr>
              <a:t>03/2027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A1A1A"/>
                </a:solidFill>
                <a:latin typeface="Calibri"/>
              </a:rPr>
              <a:t>Salesforce-Vertrag endet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00600" y="2468880"/>
            <a:ext cx="1371600" cy="9144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Calibri"/>
              </a:rPr>
              <a:t>nur noch 1 Jahr Verlängerung ohne Mehrkosten</a:t>
            </a:r>
          </a:p>
        </p:txBody>
      </p:sp>
      <p:sp>
        <p:nvSpPr>
          <p:cNvPr id="21" name="Oval 20"/>
          <p:cNvSpPr/>
          <p:nvPr/>
        </p:nvSpPr>
        <p:spPr>
          <a:xfrm>
            <a:off x="6720840" y="2157984"/>
            <a:ext cx="201168" cy="20116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1463040"/>
            <a:ext cx="137160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C00000"/>
                </a:solidFill>
                <a:latin typeface="Calibri"/>
              </a:rPr>
              <a:t>31.12.2027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A1A1A"/>
                </a:solidFill>
                <a:latin typeface="Calibri"/>
              </a:rPr>
              <a:t>Ruhestand K. Brugger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2468880"/>
            <a:ext cx="1371600" cy="9144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Calibri"/>
              </a:rPr>
              <a:t>einziger KVA-WARE-Entwickler – „Das Wichtigste ist im Kopf“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291840"/>
            <a:ext cx="3383280" cy="96012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txBody>
          <a:bodyPr rtlCol="0" anchor="t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Auftrag Beirat (Q3/2025)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1A1A1A"/>
                </a:solidFill>
                <a:latin typeface="Calibri"/>
              </a:rPr>
              <a:t>Abhängigkeit von KVA-WARE bis Ende 2027 lösen; Vorlage mit ≥ 3 Alternativen bis Q4/2026. Meilenstein „Vertrag 30.09.2026“ ist schon verstrichen.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69080" y="3291840"/>
            <a:ext cx="3429000" cy="960120"/>
          </a:xfrm>
          <a:prstGeom prst="rect">
            <a:avLst/>
          </a:prstGeom>
          <a:solidFill>
            <a:srgbClr val="FCE4D6"/>
          </a:solidFill>
          <a:ln>
            <a:noFill/>
          </a:ln>
          <a:effectLst/>
        </p:spPr>
        <p:txBody>
          <a:bodyPr rtlCol="0" anchor="t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C00000"/>
                </a:solidFill>
                <a:latin typeface="Calibri"/>
              </a:rPr>
              <a:t>Gescheitert: „KVA neu“ 2014–2016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1A1A1A"/>
                </a:solidFill>
                <a:latin typeface="Calibri"/>
              </a:rPr>
              <a:t>SAP-Projekt nach 17 Monaten abgebrochen, 940 T€ ohne Ergebnis. Ursachen: kein Konfigurator-Konzept, Key User nicht frei, Stammdaten, revidierte Entscheidungen.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55279" y="1371600"/>
            <a:ext cx="3840480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F4E79"/>
                </a:solidFill>
                <a:latin typeface="Calibri"/>
              </a:rPr>
              <a:t>Strategie 2030 ist mit heutiger IT nicht erreichbar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7955279" y="1737360"/>
          <a:ext cx="38404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005840"/>
                <a:gridCol w="1005840"/>
              </a:tblGrid>
              <a:tr h="31350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Kennzahl</a:t>
                      </a:r>
                    </a:p>
                  </a:txBody>
                  <a:tcPr marL="45720" marR="45720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2025</a:t>
                      </a:r>
                    </a:p>
                  </a:txBody>
                  <a:tcPr marL="45720" marR="45720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Ziel</a:t>
                      </a:r>
                    </a:p>
                  </a:txBody>
                  <a:tcPr marL="45720" marR="45720" marT="18288" marB="18288">
                    <a:solidFill>
                      <a:srgbClr val="1F4E79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Liefertermintreue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58 %*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&gt; 92 %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Durchlaufzeit Standard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18 AT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10 AT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Lagerbestand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18,9 Mio. €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12 Mio. €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Monatsabschluss Gruppe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14 AT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5 AT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Wartungsverträge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300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1351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EBIT-Marge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4,4 %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9 %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28" name="Rectangle 27"/>
          <p:cNvSpPr/>
          <p:nvPr/>
        </p:nvSpPr>
        <p:spPr>
          <a:xfrm>
            <a:off x="7955279" y="3977639"/>
            <a:ext cx="384048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595959"/>
                </a:solidFill>
                <a:latin typeface="Calibri"/>
              </a:rPr>
              <a:t>* gegen ersten bestätigten Termin; KVA-WARE misst gegen den letzten (71 %)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34340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F4E79"/>
                </a:solidFill>
                <a:latin typeface="Calibri"/>
              </a:rPr>
              <a:t>Kern des Problems: Insellösungen statt durchgängigem Beleg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709160"/>
            <a:ext cx="2697480" cy="118872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txBody>
          <a:bodyPr rtlCol="0" anchor="t" wrap="square" tIns="91440" bIns="91440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1F4E79"/>
                </a:solidFill>
                <a:latin typeface="Calibri"/>
              </a:rPr>
              <a:t>Kein Konfigurator im ERP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Calibri"/>
              </a:rPr>
              <a:t>Excel-Tool „KonfiX“ (2009, ohne Betreuer), 38.000 Einzel-Stücklisten, 60 % nie wieder genutzt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83280" y="4709160"/>
            <a:ext cx="2697480" cy="118872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txBody>
          <a:bodyPr rtlCol="0" anchor="t" wrap="square" tIns="91440" bIns="91440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1F4E79"/>
                </a:solidFill>
                <a:latin typeface="Calibri"/>
              </a:rPr>
              <a:t>Termine ohne Grundlage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Calibri"/>
              </a:rPr>
              <a:t>keine Kapazitätsplanung, Härterei per Magnettafel, 35 % der FA starten mit Fehlteilen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4709160"/>
            <a:ext cx="2697480" cy="118872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txBody>
          <a:bodyPr rtlCol="0" anchor="t" wrap="square" tIns="91440" bIns="91440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1F4E79"/>
                </a:solidFill>
                <a:latin typeface="Calibri"/>
              </a:rPr>
              <a:t>Keine Rückverfolgbarkeit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Calibri"/>
              </a:rPr>
              <a:t>keine Seriennummern/Chargen – Rückruf 2024 kostete 180 T€; Installed Base (60.000 Antriebe) unbekannt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52560" y="4709160"/>
            <a:ext cx="2697480" cy="118872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txBody>
          <a:bodyPr rtlCol="0" anchor="t" wrap="square" tIns="91440" bIns="91440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1F4E79"/>
                </a:solidFill>
                <a:latin typeface="Calibri"/>
              </a:rPr>
              <a:t>Drei Systemwelten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Calibri"/>
              </a:rPr>
              <a:t>KVA-WARE (nur EUR, nur DE), NAV Pilsen, Bexio CH – Konsolidierung in Excel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6199632"/>
            <a:ext cx="1124712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95959"/>
                </a:solidFill>
                <a:latin typeface="Calibri"/>
              </a:rPr>
              <a:t>Quellen: Fallpaket KVA: Projektauftrag v1.2; IT-Architektur IST v0.9; Controlling 2025; Interviews 04, 06, 09–11; Beiratsprotokoll Q3/2025; Mail Nováková 04.02.2026; Helpdesk T25-0412; E-Rechnung: IHK Frankfurt/BMF.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109728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C55A11"/>
                </a:solidFill>
                <a:latin typeface="Calibri"/>
              </a:rPr>
              <a:t>2 · ZENTRALE ANFORDERUNGEN, K.-O.-KRITERIEN UND ZIELKONFLIKTE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F4E79"/>
                </a:solidFill>
                <a:latin typeface="Calibri"/>
              </a:rPr>
              <a:t>Aus 111 Rohanforderungen wird ein Kern aus 8 K.o.-Kriterien – fünf Zielkonflikte sind aufzulösen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Calibri"/>
              </a:rPr>
              <a:t>HTWG Konstanz · ERP-Systeme · Fallstudie KVA · Entscheidungsvorlage ERP 2028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73952"/>
            <a:ext cx="64008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Calibri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4937760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F4E79"/>
                </a:solidFill>
                <a:latin typeface="Calibri"/>
              </a:rPr>
              <a:t>K.-o.-Kriterien (Ausschluss bei Nichterfüllung)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600200"/>
          <a:ext cx="49377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4480560"/>
              </a:tblGrid>
              <a:tr h="335280">
                <a:tc>
                  <a:txBody>
                    <a:bodyPr/>
                    <a:lstStyle/>
                    <a:p/>
                  </a:txBody>
                  <a:tcPr marL="45720" marR="45720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Kriterium</a:t>
                      </a:r>
                    </a:p>
                  </a:txBody>
                  <a:tcPr marL="45720" marR="45720" marT="18288" marB="18288">
                    <a:solidFill>
                      <a:srgbClr val="1F4E79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K1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Integrierte, regelbasierte Variantenkonfiguration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K2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Projektfertigung Engineer-to-Order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K3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Mehrere Gesellschaften &amp; Währungen in einem System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K4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Lokalisierung DE/CZ/CH durch Hersteller oder zertifizierten Partner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K5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Durchgängige Serien- und Chargenverfolgung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K6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Implementierungspartner in DE UND CZ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K7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Datenverarbeitung in der EU, transparent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K8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Offene Schnittstellen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4709160"/>
            <a:ext cx="4937760" cy="137160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txBody>
          <a:bodyPr rtlCol="0" anchor="t" wrap="square" tIns="91440" bIns="91440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F4E79"/>
                </a:solidFill>
                <a:latin typeface="Calibri"/>
              </a:rPr>
              <a:t>Konsolidierung (Artefakt B)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Calibri"/>
              </a:rPr>
              <a:t>111 Rohanforderungen + 8 neue → 14 K.o. · 61 Muss · 27 Kann · 5 Phase 2 · 6 gestrichen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Calibri"/>
              </a:rPr>
              <a:t>Lösungsvorgaben umformuliert, z. B. „Ansicht wie F12“ → „Arbeitsplatzübersicht mit Ampel, &lt; 2 s“; „alle 340 Listen“ → Top-40 lt. Nutzungsstatistik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Calibri"/>
              </a:rPr>
              <a:t>42 Widersprüche mit Fundstelle dokumentiert (Anhang A1)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0" y="1234440"/>
            <a:ext cx="6126480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F4E79"/>
                </a:solidFill>
                <a:latin typeface="Calibri"/>
              </a:rPr>
              <a:t>Zielkonflikte und unser Lösungsvorschlag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669280" y="1600200"/>
          <a:ext cx="61264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2377440"/>
                <a:gridCol w="2606040"/>
              </a:tblGrid>
              <a:tr h="6096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Konflikt</a:t>
                      </a:r>
                    </a:p>
                  </a:txBody>
                  <a:tcPr marL="45720" marR="45720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Positionen</a:t>
                      </a:r>
                    </a:p>
                  </a:txBody>
                  <a:tcPr marL="45720" marR="45720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Vorschlag</a:t>
                      </a:r>
                    </a:p>
                  </a:txBody>
                  <a:tcPr marL="45720" marR="45720" marT="18288" marB="18288">
                    <a:solidFill>
                      <a:srgbClr val="1F4E79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Seriennummern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Service/QM: alle Antriebe – Lager/GF Technik: nur Sonder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Alle Antriebe, automatisch beim Typenschilddruck, Scan statt Abtippen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Betriebsmodell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CFO/CEO: SaaS – IT/GF Technik: Private Cloud/On-Prem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Kein K.o.: „SaaS mit Plan B“ (EU-RZ, Exit, Offline-Puffer, 2. Leitung)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Pilsen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Projektauftrag: 2029 – Werk/CFO: sofort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Pilsen zuerst als Pilot (sequenziell), NAV-Überbrückung 9 Monate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CRM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CEO: ein System – Vertrieb: „Salesforce bleibt“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Salesforce bis 03/2028 verlängern + integrieren, CRM-Entscheid 2028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Rückmeldung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Controlling: je Personalnummer – Betriebsrat: lehnt ab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Arbeitsplatzbezogen + Lohngruppen-Mischsatz, Rahmen-BV vor Vertrag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669280" y="5349240"/>
            <a:ext cx="6126480" cy="7315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1A1A1A"/>
                </a:solidFill>
                <a:latin typeface="Calibri"/>
              </a:rPr>
              <a:t>Ausland beachtet: CZ = EU (Intrastat, Kontrollmeldung, CZ-Sprache) · CH = Drittland (Zoll bei jeder Lieferung, MWST, QR-Rechnung, CHF) → K3/K4, Anhang A10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Calibri"/>
              </a:rPr>
              <a:t>20 Störinformationen bewusst aussortiert (veraltetes Lastenheft 2015, Anekdoten, iPad-3D-Wunsch, falsche Zahlen) → Anhang A9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199632"/>
            <a:ext cx="1124712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95959"/>
                </a:solidFill>
                <a:latin typeface="Calibri"/>
              </a:rPr>
              <a:t>Quellen: Anforderungskatalog Rohfassung 12.02.2026; Interviews 01–12; Flipcharts 21.01.2026; Kick-off 02.12.2025; LK-Ergebnis 18.02.2026; BR-Schreiben 09.02.2026. Details: XLSX Blätter 1–3.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109728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C55A11"/>
                </a:solidFill>
                <a:latin typeface="Calibri"/>
              </a:rPr>
              <a:t>3 · MARKTÜBERBLICK: LONGLIST → SHORTLIST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F4E79"/>
                </a:solidFill>
                <a:latin typeface="Calibri"/>
              </a:rPr>
              <a:t>Markt: 16 Optionen geprüft – drei erfüllen alle K.o.-Kriterien und passen zu Größe und Zeitplan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Calibri"/>
              </a:rPr>
              <a:t>HTWG Konstanz · ERP-Systeme · Fallstudie KVA · Entscheidungsvorlage ERP 2028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73952"/>
            <a:ext cx="64008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Calibri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486400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16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Longlist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417320"/>
            <a:ext cx="5669280" cy="8686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45720" rIns="45720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1A1A1A"/>
                </a:solidFill>
                <a:latin typeface="Calibri"/>
              </a:rPr>
              <a:t>Mittelstands-ERP für diskrete Fertiger in DACH/CZ + Option 0 (Modernisierung KVA-WARE)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395728"/>
            <a:ext cx="4572000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14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Filter K1/K2: Konfigurator + Projektfertigung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2441448"/>
            <a:ext cx="5669280" cy="8686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45720" rIns="45720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1A1A1A"/>
                </a:solidFill>
                <a:latin typeface="Calibri"/>
              </a:rPr>
              <a:t>raus: Option 0 (KVA-WARE modernisieren), Odoo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3419856"/>
            <a:ext cx="3657600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6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Filter K4/K6: Lokalisierung + Partner DE UND CZ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3465576"/>
            <a:ext cx="5669280" cy="8686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45720" rIns="45720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1A1A1A"/>
                </a:solidFill>
                <a:latin typeface="Calibri"/>
              </a:rPr>
              <a:t>raus: Infor CSI, Infor LN, Epicor, PSIpenta, ams.erp, HELIOS; Nachrücker: proALPHA, abas (CZ nicht belegt)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4443984"/>
            <a:ext cx="2743200" cy="868680"/>
          </a:xfrm>
          <a:prstGeom prst="rect">
            <a:avLst/>
          </a:prstGeom>
          <a:solidFill>
            <a:srgbClr val="38761D"/>
          </a:solidFill>
          <a:ln>
            <a:noFill/>
          </a:ln>
          <a:effectLst/>
        </p:spPr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Filter Größe, Kosten, Betriebsmodell, Akzeptanz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4489704"/>
            <a:ext cx="5669280" cy="8686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45720" rIns="45720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1A1A1A"/>
                </a:solidFill>
                <a:latin typeface="Calibri"/>
              </a:rPr>
              <a:t>raus: SAP S/4 Public (nur SaaS, kein E-Invoicing CZ), SAP S/4 Private, D365 F&amp;SCM (überdimensioniert)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440680"/>
            <a:ext cx="11338560" cy="68580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Shortlist:  ① Business Central + Branchenlösung – Abo je Nutzer, SaaS mit Hosting als Plan B, CZ-Lokalisierung von Microsoft</a:t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② Asseco APplus – Kauflizenz oder Abo, Spezialist Variantenfertigung, CZ-Lokalisierung im RFI bestätigen   ③ IFS Cloud – Abo, ETO/Service-stark, EU-Anbieter, SaaS oder kundenbetrieben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6199632"/>
            <a:ext cx="1124712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95959"/>
                </a:solidFill>
                <a:latin typeface="Calibri"/>
              </a:rPr>
              <a:t>Quellen: Herstellerseiten und Primärquellen (Abruf 10/2026): learn.microsoft.com (BC CZ-Lokalisierung), erp-software.org/applus, ifs.com Partnerverzeichnis, SAP KBA 3744200; vollständige Longlist mit Begründung: XLSX Blatt 5, Anhang A7; Lizenzmodelle: Anhang A8.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109728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C55A11"/>
                </a:solidFill>
                <a:latin typeface="Calibri"/>
              </a:rPr>
              <a:t>4 · BEWERTUNGSERGEBNIS: NUTZWERT UND TCO ÜBER 5 JAHRE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F4E79"/>
                </a:solidFill>
                <a:latin typeface="Calibri"/>
              </a:rPr>
              <a:t>IFS bietet den höchsten Nutzen – Business Central das beste Verhältnis von Nutzen zu Kosten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Calibri"/>
              </a:rPr>
              <a:t>HTWG Konstanz · ERP-Systeme · Fallstudie KVA · Entscheidungsvorlage ERP 2028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73952"/>
            <a:ext cx="64008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Calibri"/>
              </a:rPr>
              <a:t>4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1325880"/>
          <a:ext cx="365760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297680" y="1325880"/>
          <a:ext cx="4023360" cy="30175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458200" y="1371600"/>
          <a:ext cx="33375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  <a:gridCol w="731520"/>
                <a:gridCol w="777240"/>
              </a:tblGrid>
              <a:tr h="487680">
                <a:tc>
                  <a:txBody>
                    <a:bodyPr/>
                    <a:lstStyle/>
                    <a:p/>
                  </a:txBody>
                  <a:tcPr marL="45720" marR="45720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BC + Branchen-lösung</a:t>
                      </a:r>
                    </a:p>
                  </a:txBody>
                  <a:tcPr marL="45720" marR="45720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APplus</a:t>
                      </a:r>
                    </a:p>
                  </a:txBody>
                  <a:tcPr marL="45720" marR="45720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IFS Cloud</a:t>
                      </a:r>
                    </a:p>
                  </a:txBody>
                  <a:tcPr marL="45720" marR="45720" marT="18288" marB="18288">
                    <a:solidFill>
                      <a:srgbClr val="1F4E79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Nutzwert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3,75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3,84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4,09</a:t>
                      </a:r>
                    </a:p>
                  </a:txBody>
                  <a:tcPr marL="45720" marR="45720" marT="18288" marB="18288">
                    <a:solidFill>
                      <a:srgbClr val="C6EFC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TCO 5 J.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2,6 Mio. €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3,2 Mio. €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3,8 Mio. €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Nutzwert je Mio. €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1,44</a:t>
                      </a:r>
                    </a:p>
                  </a:txBody>
                  <a:tcPr marL="45720" marR="45720" marT="18288" marB="18288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1,21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1,08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Pilsen bis Q3/2027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realistisch</a:t>
                      </a:r>
                    </a:p>
                  </a:txBody>
                  <a:tcPr marL="45720" marR="45720" marT="18288" marB="18288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unsicher</a:t>
                      </a:r>
                    </a:p>
                  </a:txBody>
                  <a:tcPr marL="45720" marR="45720" marT="18288" marB="18288"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knapp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Hauptrisiko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Konfigurator über Partner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CZ offen</a:t>
                      </a:r>
                    </a:p>
                  </a:txBody>
                  <a:tcPr marL="45720" marR="45720" marT="18288" marB="18288"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Kosten, Komplexität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4526280"/>
            <a:ext cx="5577840" cy="16002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So lesen wir das Ergebnis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A1A1A"/>
                </a:solidFill>
                <a:latin typeface="Calibri"/>
              </a:rPr>
              <a:t>• IFS liegt 0,34 Punkte vor BC (ETO, Service, Konfigurator) – kostet aber rund 1,2 Mio. € (+46 %) mehr.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A1A1A"/>
                </a:solidFill>
                <a:latin typeface="Calibri"/>
              </a:rPr>
              <a:t>• BC: bester Nutzen je Euro, einziger Weg zu Pilsen vor Ende 2027, Hosting als Plan B; bei „Fokus Zeit &amp; Pilsen“ gleichauf mit IFS (A3).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A1A1A"/>
                </a:solidFill>
                <a:latin typeface="Calibri"/>
              </a:rPr>
              <a:t>• APplus fällt wegen offener CZ-Lokalisierung zurück – bei Bestätigung im RFI Platz 2.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A1A1A"/>
                </a:solidFill>
                <a:latin typeface="Calibri"/>
              </a:rPr>
              <a:t>• Vollkosten je Nutzer und Monat: BC ≈ 190 €, APplus ≈ 230 €, IFS ≈ 275 € (230 Nutzer, 60 Monate).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4526280"/>
            <a:ext cx="5577840" cy="16002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00000"/>
                </a:solidFill>
                <a:latin typeface="Calibri"/>
              </a:rPr>
              <a:t>Budget: keine Option passt in 1,2 Mio. € oder &lt; 1 Mio. €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A1A1A"/>
                </a:solidFill>
                <a:latin typeface="Calibri"/>
              </a:rPr>
              <a:t>• Der Projektauftrag rechnet interne Kosten mit 120 T€ (realistisch 350–450 T€). Selbst in seiner Logik (Einführung + 3 J. Lizenzen) kostet BC ≈ 1,9 Mio. €.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A1A1A"/>
                </a:solidFill>
                <a:latin typeface="Calibri"/>
              </a:rPr>
              <a:t>• Auch die günstige Variante (BC Basis, 2,3 Mio. €) liegt über der CFO-Grenze von 1,5 Mio. €.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A1A1A"/>
                </a:solidFill>
                <a:latin typeface="Calibri"/>
              </a:rPr>
              <a:t>• Einordnung: 0,5–0,9 % vom Umsatz p. a.; Nutzen 0,5–0,9 Mio. € p. a. + 3–4 Mio. € Liquidität aus Bestandsabbau.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6199632"/>
            <a:ext cx="1124712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95959"/>
                </a:solidFill>
                <a:latin typeface="Calibri"/>
              </a:rPr>
              <a:t>Quellen: Eigene Nutzwertanalyse (10 Kriterien, Gewichte vorab festgelegt) und TCO-Modell, XLSX Blätter 6–9. BC-Preise lt. Microsoft-Preisänderung 11/2025 (USD→EUR); APplus/IFS-Preise nicht öffentlich = gekennzeichnete Annahmen, im RFP zu validieren.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109728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C55A11"/>
                </a:solidFill>
                <a:latin typeface="Calibri"/>
              </a:rPr>
              <a:t>5 · EMPFEHLUNG, ROADMAP UND ENTSCHEIDUNGSBEDARF DER GESCHÄFTSFÜHRUNG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F4E79"/>
                </a:solidFill>
                <a:latin typeface="Calibri"/>
              </a:rPr>
              <a:t>Empfehlung: Business Central + Branchenlösung als Favorit – Vertrag erst nach bestandenem Konfigurator-Test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Calibri"/>
              </a:rPr>
              <a:t>HTWG Konstanz · ERP-Systeme · Fallstudie KVA · Entscheidungsvorlage ERP 2028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73952"/>
            <a:ext cx="64008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Calibri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27432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Roadmap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1280160"/>
            <a:ext cx="475488" cy="25603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95959"/>
                </a:solidFill>
                <a:latin typeface="Calibri"/>
              </a:rPr>
              <a:t>Q4/26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721608" y="1280160"/>
            <a:ext cx="475488" cy="25603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95959"/>
                </a:solidFill>
                <a:latin typeface="Calibri"/>
              </a:rPr>
              <a:t>Q1/27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97096" y="1280160"/>
            <a:ext cx="475488" cy="25603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95959"/>
                </a:solidFill>
                <a:latin typeface="Calibri"/>
              </a:rPr>
              <a:t>Q2/27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72583" y="1280160"/>
            <a:ext cx="475488" cy="25603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95959"/>
                </a:solidFill>
                <a:latin typeface="Calibri"/>
              </a:rPr>
              <a:t>Q3/27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48072" y="1280160"/>
            <a:ext cx="475488" cy="25603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95959"/>
                </a:solidFill>
                <a:latin typeface="Calibri"/>
              </a:rPr>
              <a:t>Q4/27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23560" y="1280160"/>
            <a:ext cx="475488" cy="25603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95959"/>
                </a:solidFill>
                <a:latin typeface="Calibri"/>
              </a:rPr>
              <a:t>Q1/28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9048" y="1280160"/>
            <a:ext cx="475488" cy="25603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95959"/>
                </a:solidFill>
                <a:latin typeface="Calibri"/>
              </a:rPr>
              <a:t>Q2/28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74536" y="1280160"/>
            <a:ext cx="475488" cy="25603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95959"/>
                </a:solidFill>
                <a:latin typeface="Calibri"/>
              </a:rPr>
              <a:t>H2/28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50024" y="1280160"/>
            <a:ext cx="475488" cy="25603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95959"/>
                </a:solidFill>
                <a:latin typeface="Calibri"/>
              </a:rPr>
              <a:t>2029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572768"/>
            <a:ext cx="2743200" cy="42062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18288" rIns="18288" tIns="18288" bIns="18288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A1A1A"/>
                </a:solidFill>
                <a:latin typeface="Calibri"/>
              </a:rPr>
              <a:t>Sofortmaßnahmen</a:t>
            </a:r>
          </a:p>
          <a:p>
            <a:pPr algn="l">
              <a:spcAft>
                <a:spcPts val="200"/>
              </a:spcAft>
            </a:pPr>
            <a:r>
              <a:rPr sz="750" b="0">
                <a:solidFill>
                  <a:srgbClr val="595959"/>
                </a:solidFill>
                <a:latin typeface="Calibri"/>
              </a:rPr>
              <a:t>E-Rechnung-Konverter, NAV-Notfallsupport, Brugger-Doku, Stammdaten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627632"/>
            <a:ext cx="950976" cy="292608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txBody>
          <a:bodyPr rtlCol="0" anchor="ctr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ab sofort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011680"/>
            <a:ext cx="2743200" cy="42062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18288" rIns="18288" tIns="18288" bIns="18288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A1A1A"/>
                </a:solidFill>
                <a:latin typeface="Calibri"/>
              </a:rPr>
              <a:t>Ausschreibung + PoC</a:t>
            </a:r>
          </a:p>
          <a:p>
            <a:pPr algn="l">
              <a:spcAft>
                <a:spcPts val="200"/>
              </a:spcAft>
            </a:pPr>
            <a:r>
              <a:rPr sz="750" b="0">
                <a:solidFill>
                  <a:srgbClr val="595959"/>
                </a:solidFill>
                <a:latin typeface="Calibri"/>
              </a:rPr>
              <a:t>RFP, Drehbuch-Demos, Konfigurator-PoC BC vs. IFS, Rahmen-BV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31412" y="2066544"/>
            <a:ext cx="665683" cy="2926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txBody>
          <a:bodyPr rtlCol="0" anchor="ctr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Vertrag 04/27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450591"/>
            <a:ext cx="2743200" cy="42062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18288" rIns="18288" tIns="18288" bIns="18288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A1A1A"/>
                </a:solidFill>
                <a:latin typeface="Calibri"/>
              </a:rPr>
              <a:t>Pilsen (Pilot)</a:t>
            </a:r>
          </a:p>
          <a:p>
            <a:pPr algn="l">
              <a:spcAft>
                <a:spcPts val="200"/>
              </a:spcAft>
            </a:pPr>
            <a:r>
              <a:rPr sz="750" b="0">
                <a:solidFill>
                  <a:srgbClr val="595959"/>
                </a:solidFill>
                <a:latin typeface="Calibri"/>
              </a:rPr>
              <a:t>Template für die Gruppe, NAV-Brücke bis 09/2027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97096" y="2505456"/>
            <a:ext cx="950976" cy="292608"/>
          </a:xfrm>
          <a:prstGeom prst="rect">
            <a:avLst/>
          </a:prstGeom>
          <a:solidFill>
            <a:srgbClr val="38761D"/>
          </a:solidFill>
          <a:ln>
            <a:noFill/>
          </a:ln>
          <a:effectLst/>
        </p:spPr>
        <p:txBody>
          <a:bodyPr rtlCol="0" anchor="ctr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Go-live 01.10.27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889504"/>
            <a:ext cx="2743200" cy="42062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18288" rIns="18288" tIns="18288" bIns="18288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A1A1A"/>
                </a:solidFill>
                <a:latin typeface="Calibri"/>
              </a:rPr>
              <a:t>Singen + CH</a:t>
            </a:r>
          </a:p>
          <a:p>
            <a:pPr algn="l">
              <a:spcAft>
                <a:spcPts val="200"/>
              </a:spcAft>
            </a:pPr>
            <a:r>
              <a:rPr sz="750" b="0">
                <a:solidFill>
                  <a:srgbClr val="595959"/>
                </a:solidFill>
                <a:latin typeface="Calibri"/>
              </a:rPr>
              <a:t>Kern: Konfigurator, Fertigung, Finanzen, QM, Service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34840" y="2944368"/>
            <a:ext cx="1664208" cy="2926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txBody>
          <a:bodyPr rtlCol="0" anchor="ctr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Go-live 01.04.28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328415"/>
            <a:ext cx="2743200" cy="42062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18288" rIns="18288" tIns="18288" bIns="18288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A1A1A"/>
                </a:solidFill>
                <a:latin typeface="Calibri"/>
              </a:rPr>
              <a:t>Phase 2</a:t>
            </a:r>
          </a:p>
          <a:p>
            <a:pPr algn="l">
              <a:spcAft>
                <a:spcPts val="200"/>
              </a:spcAft>
            </a:pPr>
            <a:r>
              <a:rPr sz="750" b="0">
                <a:solidFill>
                  <a:srgbClr val="595959"/>
                </a:solidFill>
                <a:latin typeface="Calibri"/>
              </a:rPr>
              <a:t>APS, Field-Service-App, Portal/Shop, Instandhaltung, CRM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9048" y="3383279"/>
            <a:ext cx="1426464" cy="292608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txBody>
          <a:bodyPr rtlCol="0" anchor="ctr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ab H2/28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703320"/>
            <a:ext cx="694944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Was die Empfehlung für Sie bedeutet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457200" y="3977639"/>
          <a:ext cx="69494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2514600"/>
                <a:gridCol w="2834640"/>
              </a:tblGrid>
              <a:tr h="261257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Wer</a:t>
                      </a:r>
                    </a:p>
                  </a:txBody>
                  <a:tcPr marL="45720" marR="45720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Ihr Anliegen</a:t>
                      </a:r>
                    </a:p>
                  </a:txBody>
                  <a:tcPr marL="45720" marR="45720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Unsere Antwort</a:t>
                      </a:r>
                    </a:p>
                  </a:txBody>
                  <a:tcPr marL="45720" marR="45720" marT="18288" marB="18288">
                    <a:solidFill>
                      <a:srgbClr val="1F4E79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Calibri"/>
                        </a:rPr>
                        <a:t>Dr. Martina Kessler (CEO)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Calibri"/>
                        </a:rPr>
                        <a:t>Transparenz, ein System, Standard, planbare Kosten, „&lt; 1 Mio.“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Calibri"/>
                        </a:rPr>
                        <a:t>Standard + Power BI mobil, Subskription; ehrlicher TCO statt Wunschbudget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Calibri"/>
                        </a:rPr>
                        <a:t>Werner Vogt (GF Technik)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Calibri"/>
                        </a:rPr>
                        <a:t>Konfigurator = Herzstück, Produktion darf nie stehen, keine Miete, kein zweites 2016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Calibri"/>
                        </a:rPr>
                        <a:t>Konfigurator-PoC mit SEINEM Baukasten vor Vertrag; Offline-Puffer + 2. Leitung; Option 0 fair geprüft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Calibri"/>
                        </a:rPr>
                        <a:t>Sabine Haller (CFO)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Calibri"/>
                        </a:rPr>
                        <a:t>Abschluss 5 AT, Konsolidierung ab Go-live, 5-J.-TCO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Calibri"/>
                        </a:rPr>
                        <a:t>Mandanten/IC ab Pilsen-Pilot, ihre TCO-Methode übernommen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Calibri"/>
                        </a:rPr>
                        <a:t>Markus Brenner (IT)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Calibri"/>
                        </a:rPr>
                        <a:t>Cloud nur mit Plan B, 1,5 FTE, Pilsen nicht parallel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Calibri"/>
                        </a:rPr>
                        <a:t>Gleiche Software hostbar, sequenziell, Partner-Betrieb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Calibri"/>
                        </a:rPr>
                        <a:t>Elena Nováková (Pilsen)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Calibri"/>
                        </a:rPr>
                        <a:t>„We cannot wait until 2029“, CZ-Oberfläche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Calibri"/>
                        </a:rPr>
                        <a:t>Pilsen zuerst (10/2027), CZ-Lokalisierung von Microsoft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258"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Calibri"/>
                        </a:rPr>
                        <a:t>Jürgen Kolb (Betriebsrat)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Calibri"/>
                        </a:rPr>
                        <a:t>BV vor Vertrag, keine Leistungskontrolle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Calibri"/>
                        </a:rPr>
                        <a:t>Rahmen-BV vor Unterschrift, Rückmeldung je Arbeitsplatz, BR in Demos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29" name="Rectangle 28"/>
          <p:cNvSpPr/>
          <p:nvPr/>
        </p:nvSpPr>
        <p:spPr>
          <a:xfrm>
            <a:off x="457200" y="5943600"/>
            <a:ext cx="694944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C00000"/>
                </a:solidFill>
                <a:latin typeface="Calibri"/>
              </a:rPr>
              <a:t>Bedingung (Lehre aus 2016): Vertrag erst nach bestandenem Konfigurator-PoC – sonst IFS (+1,2 Mio. €). Risiken: Anhang A5.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35240" y="1280160"/>
            <a:ext cx="4160520" cy="48463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txBody>
          <a:bodyPr rtlCol="0" anchor="t" wrap="square" lIns="137160" rIns="137160" tIns="137160" bIns="137160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Das muss die Geschäftsführung entscheiden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1  Budget: 5-J.-TCO bis 3,0 Mio. € freigeben (BC 2,6 Mio. € + Reserve) statt 1,2 Mio. €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2  Funktionstiefe oder Kosten/Tempo: BC (Favorit) oder IFS – nach dem PoC im März 2027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3  Termin: Go-live Singen 01.04.2028 statt 01.01.2028; Bereitschaft Brugger + RPG-Dienstleister als Brücke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4  Pilsen zuerst: NAV-Überbrückung mit DataSoft bis 09/2027 verhandeln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5  Seriennummer für alle Antriebe – endgültig, Änderung nur per Lenkungskreis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6  Salesforce 1 Jahr verlängern; CRM-Entscheidung 2028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7  Key User zu 20–30 % freistellen, externer Projektleiter, Exportkontrollbeauftragten benennen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8  E-Rechnungs-Konverter für KVA-WARE sofort beauftragen (Pflicht ab 01.01.2027)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199632"/>
            <a:ext cx="1124712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95959"/>
                </a:solidFill>
                <a:latin typeface="Calibri"/>
              </a:rPr>
              <a:t>Quellen: Eigene Empfehlung auf Basis XLSX Blätter 1–9; Termine aus Mail Nováková 04.02.2026, Int. 04 (Brenner), LK 18.02.2026; Nächste Schritte bis Vertrag: Anhang A6.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109728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C55A11"/>
                </a:solidFill>
                <a:latin typeface="Calibri"/>
              </a:rPr>
              <a:t>ANHANG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F4E79"/>
                </a:solidFill>
                <a:latin typeface="Calibri"/>
              </a:rPr>
              <a:t>Anhang A1 – Die wichtigsten Widersprüche (Auszug aus 42, vollständig in XLSX Blatt 1)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Calibri"/>
              </a:rPr>
              <a:t>HTWG Konstanz · ERP-Systeme · Fallstudie KVA · Entscheidungsvorlage ERP 2028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73952"/>
            <a:ext cx="64008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Calibri"/>
              </a:rPr>
              <a:t>A1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188720"/>
          <a:ext cx="1147572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1051560"/>
                <a:gridCol w="3017520"/>
                <a:gridCol w="3291840"/>
                <a:gridCol w="3657600"/>
              </a:tblGrid>
              <a:tr h="365760"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marL="45720" marR="45720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Thema</a:t>
                      </a:r>
                    </a:p>
                  </a:txBody>
                  <a:tcPr marL="45720" marR="45720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Aussage A</a:t>
                      </a:r>
                    </a:p>
                  </a:txBody>
                  <a:tcPr marL="45720" marR="45720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Aussage B</a:t>
                      </a:r>
                    </a:p>
                  </a:txBody>
                  <a:tcPr marL="45720" marR="45720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Lösungsvorschlag</a:t>
                      </a:r>
                    </a:p>
                  </a:txBody>
                  <a:tcPr marL="45720" marR="45720" marT="18288" marB="18288"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W-01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Budget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Projektauftrag v1.2 Kap. 5: 1,2 Mio. € (Einführung + 3 J. Lizenzen, interne Kosten 120 T€)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Int. 01 Kessler: „unter 1 Mio.“; Int. 02 Vogt: „mehr als 1 Mio. mache ich nicht mit“; Int. 03 / Mail Haller 19.01.: TCO 5 J. max. 1,5 Mio.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Einheitliche Bezugsgröße 5-J.-TCO inkl. interner Kosten (LK-Beschluss 18.02.). Obergrenze auf Basis TCO-Abschätzung neu festlegen (unsere Spanne 2,2–3,8 Mio. €), Budget gegen Business Case stellen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W-02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Interne Kosten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Projektauftrag Kap. 5: interne Freistellungen in 1,2 Mio. enthalten (120 T€)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Mail Haller 19.01.: realistisch 350–450 T€ (10 Key User, 18 Mon., 20–30 %)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In TCO 400–500 T€ interne Kosten ansetzen; Freistellung vertraglich mit Linienvorgesetzten vereinbaren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W-03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Go-live-Termin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Projektauftrag / Kick-off: Go-live Singen 01.01.2028 „nicht verhandelbar“ (Kessler)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Int. 04 Brenner: realistisch Mitte 2028; Int. 02 Vogt: „wird nicht klappen“; Meilenstein „Vertrag 30.09.2026“ ist bereits verstrichen (Stand 10/2026)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Go-live Singen 01.04.2028 planen (Puffer bis 01.07.2028); Überbrückung Brugger-Wissen durch Dokumentation + Bereitschaftsvertrag (RPG-Dienstleister, ggf. Fa. aus Ulm)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W-04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Verlängerung Brugger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IT-Historie Kap. 3: Brugger: Verlängerung „ausgeschlossen“; Int. 01 Kessler: „will ich nicht“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Int. 03 Haller: 6–12 Monate „verhandelbar“; Int. 04 Brugger: „Wenn es brennt, rufen Sie an. Aber ich mache keinen Vertrag.“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Kein Freelancer-Vertrag als Plan A. Stattdessen: Wissensdokumentation 2027 (versteckte Preislogik, Nachtläufe), Rufbereitschaft auf Stundenbasis anbieten, externer RPG-Dienstleister als Backup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W-05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Scope Pilsen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Projektauftrag Kap. 4/8: Pilsen Phase 2, Go-live 2029; Vogt Mail 04.02.: „NAV läuft doch“; Brenner: parallel „unmöglich“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Int. 11 / Mail Nováková 04.02.: Partner kündigt 31.12.2026 schriftlich, Server 2016 ohne Failover, „We cannot wait until 2029“; Haller: Konsolidierung ab Go-live; Kessler: „vielleicht war das falsch“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Pilsen als Pilot ZUERST (sequenziell, nicht parallel): Go-live Pilsen Q3/2027 auf dem Ziel-ERP; NAV-Betrieb bis dahin über befristeten Notfallsupport + Virtualisierung/Backup des Servers absichern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W-06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Brückenlösung Pilsen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Mail Nováková 04.02.: DataSoft bietet Migration auf Business Central für ca. 2,1 Mio. CZK, 6 Monate; Dvořák: „schnelles separates Cloud-ERP“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Int. 11 Nováková: „Two migrations in three years? No.“; Vogt: „nichts unterschreiben“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Keine isolierte Brücke. Wenn BC Gruppen-ERP wird, ist das DataSoft-Angebot ein möglicher Baustein des Gruppen-Rollouts (Template statt Insel) – sonst nur Notfall-Support verhandeln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W-08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Betriebsmodell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Int. 03 Haller: „Ganz klar SaaS“; Int. 01 Kessler: Cloud „selbstverständlich“; Int. 11 Pilsen: Cloud (keine IT)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Int. 04 Brenner: Private Cloud DE oder On-Prem, „gegen Cloud ohne Plan B“; Int. 02 Vogt: „Cloud ist Miete auf Lebenszeit“, Kauflizenz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Kein K.o. (Kick-off/LK-Beschluss). Bewertungskriterium „SaaS mit Plan B“: EU-Datenhaltung, Exit-Klausel, Wechselmöglichkeit Hosting/On-Prem, Offline-Puffer, 2. Internetleitung (18 T€/J.)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W-10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Seriennummern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Lastenheft 2015: „wird nicht benötigt“ (Vogt); Int. 02 Vogt: für Standard „Bürokratie“; Int. 08 Hummel: nur Sonderantriebe, „nicht abtippen“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Int. 09 Seitz: MUSS für alle Antriebe (Installed Base, Wartungsverträge 41→300); Int. 10 Rieger: MUSS (Bahn, Wehrtechnik, Rückruf 2024 = 180 T€)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Seriennummer für ALLE Antriebe – automatisch vergeben beim FA-Abschluss / Typenschilddruck (Fertigungsnummer = Seriennummer), Erfassung per Scan → kein Mehraufwand im Lager. Entscheidung schriftlich durch GF, nicht revidierbar ohne LK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W-16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Rückmeldung personenbezogen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P-010 / Int. 03 Arnold: Personalnummer je Arbeitsgang für Ist-Lohnkosten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Int. 12 / BR-Schreiben 09.02.: keine Leistungskontrolle, BR stimmt Rückmeldung je Personalnummer nicht zu (§ 87 Abs. 1 Nr. 6 BetrVG); Int. 06 Lang: „Arbeitsplatz reicht“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Rückmeldung arbeitsplatz-/gruppenbezogen; Ist-Kosten über Lohngruppen-Mischsätze je Kostenstelle; Auswertungen erst ab 5 Personen – in Rahmen-BV regeln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W-17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Rahmen-Betriebsvereinbarung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BR-Schreiben 09.02. / Int. 12: Rahmen-BV IT vor Vertragsabschluss, Entwurf bis Juni 2026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Status Entwurf unbekannt (kein Dokument im Fallpaket); Vertragsziel lt. Projektauftrag 30.09.2026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Status klären (Rückfrage GF); BV-Entwurf parallel zur RFP-Phase, 2 BR-Mitglieder in Drehbuch-Demos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W-18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Modernisierung KVA-WARE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Int. 02 / Mail Vogt 20.01.: RPG→Java-Migration für 300–400 T€; „Von Standard-ERP stand nichts im Protokoll“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Beiratsprotokoll Q3/2025: Beschluss = Abhängigkeit lösen + zukunftsfähiges ERP, ≥ 3 Alternativen; „Standard-ERP“ nur in der Diskussion; Kessler: keine Option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Modernisierung als „Option 0“ transparent bewerten (scheitert an 5 von 8 K.o.-Kriterien: Konfigurator, Mandanten, Lokalisierung CZ, Serien/Chargen, Partner) – so wird Vogt mitgenommen, statt übergangen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W-34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E-Rechnung Versand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IT-Architektur Kap. 5: Versandpflicht „ab 2027/2028 noch offen“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Rechtslage: Versandpflicht ab 01.01.2027 für Unternehmen mit Vorjahresumsatz &gt; 800 T€ (KVA betroffen); EDI bis Ende 2027 zulässig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Sofortmaßnahme Q4/2026: ZUGFeRD/XRechnung-Konverter auf KVA-WARE-Druckausgabe (Dienstleister/ELO); nicht auf Go-live warten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W-39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Projektauftrag nicht unterschrieben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Projektauftrag v1.2: „freigegeben durch GF“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Unterschrift Vogt fehlt („wenn ich sehe, dass die Auswahl ordentlich gemacht wird“)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Vogt in Drehbuch-Demos/Bewertung aktiv einbinden; Unterschrift als Meilenstein vor RFP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109728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C55A11"/>
                </a:solidFill>
                <a:latin typeface="Calibri"/>
              </a:rPr>
              <a:t>ANHANG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F4E79"/>
                </a:solidFill>
                <a:latin typeface="Calibri"/>
              </a:rPr>
              <a:t>Anhang A2 – K.o.-Prüfung: Shortlist und Option 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Calibri"/>
              </a:rPr>
              <a:t>HTWG Konstanz · ERP-Systeme · Fallstudie KVA · Entscheidungsvorlage ERP 2028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73952"/>
            <a:ext cx="64008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Calibri"/>
              </a:rPr>
              <a:t>A2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280160"/>
          <a:ext cx="112471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2011680"/>
                <a:gridCol w="1645920"/>
                <a:gridCol w="1463040"/>
                <a:gridCol w="2194560"/>
              </a:tblGrid>
              <a:tr h="4267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K.o.-Kriterium</a:t>
                      </a:r>
                    </a:p>
                  </a:txBody>
                  <a:tcPr marL="45720" marR="45720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BC + Branchenlösung</a:t>
                      </a:r>
                    </a:p>
                  </a:txBody>
                  <a:tcPr marL="45720" marR="45720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Asseco APplus</a:t>
                      </a:r>
                    </a:p>
                  </a:txBody>
                  <a:tcPr marL="45720" marR="45720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IFS Cloud</a:t>
                      </a:r>
                    </a:p>
                  </a:txBody>
                  <a:tcPr marL="45720" marR="45720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Option 0 KVA-WARE modernisiert</a:t>
                      </a:r>
                    </a:p>
                  </a:txBody>
                  <a:tcPr marL="45720" marR="45720" marT="18288" marB="18288">
                    <a:solidFill>
                      <a:srgbClr val="1F4E79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K1 Integrierte, regelbasierte Variantenkonfiguration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✓ über ISV – PoC</a:t>
                      </a:r>
                    </a:p>
                  </a:txBody>
                  <a:tcPr marL="45720" marR="45720" marT="18288" marB="18288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45720" marR="45720" marT="18288" marB="18288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45720" marR="45720" marT="18288" marB="18288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L="45720" marR="45720" marT="18288" marB="18288">
                    <a:solidFill>
                      <a:srgbClr val="FFC7CE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K2 Projektfertigung Engineer-to-Order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✓ (Projekte, einfacher)</a:t>
                      </a:r>
                    </a:p>
                  </a:txBody>
                  <a:tcPr marL="45720" marR="45720" marT="18288" marB="18288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45720" marR="45720" marT="18288" marB="18288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45720" marR="45720" marT="18288" marB="18288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✗ (Excel)</a:t>
                      </a:r>
                    </a:p>
                  </a:txBody>
                  <a:tcPr marL="45720" marR="45720" marT="18288" marB="18288">
                    <a:solidFill>
                      <a:srgbClr val="FFC7CE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K3 Mehrere Gesellschaften &amp; Währungen in einem System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45720" marR="45720" marT="18288" marB="18288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45720" marR="45720" marT="18288" marB="18288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45720" marR="45720" marT="18288" marB="18288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L="45720" marR="45720" marT="18288" marB="18288">
                    <a:solidFill>
                      <a:srgbClr val="FFC7CE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K4 Lokalisierung DE/CZ/CH durch Hersteller oder zertifizierten Partner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✓ (Microsoft CZ)</a:t>
                      </a:r>
                    </a:p>
                  </a:txBody>
                  <a:tcPr marL="45720" marR="45720" marT="18288" marB="18288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? im RFI</a:t>
                      </a:r>
                    </a:p>
                  </a:txBody>
                  <a:tcPr marL="45720" marR="45720" marT="18288" marB="18288"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45720" marR="45720" marT="18288" marB="18288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L="45720" marR="45720" marT="18288" marB="18288">
                    <a:solidFill>
                      <a:srgbClr val="FFC7CE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K5 Durchgängige Serien- und Chargenverfolgung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45720" marR="45720" marT="18288" marB="18288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45720" marR="45720" marT="18288" marB="18288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45720" marR="45720" marT="18288" marB="18288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L="45720" marR="45720" marT="18288" marB="18288">
                    <a:solidFill>
                      <a:srgbClr val="FFC7CE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K6 Implementierungspartner in DE UND CZ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45720" marR="45720" marT="18288" marB="18288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? im RFI</a:t>
                      </a:r>
                    </a:p>
                  </a:txBody>
                  <a:tcPr marL="45720" marR="45720" marT="18288" marB="18288"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45720" marR="45720" marT="18288" marB="18288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L="45720" marR="45720" marT="18288" marB="18288">
                    <a:solidFill>
                      <a:srgbClr val="FFC7CE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K7 Datenverarbeitung in der EU, transparent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✓ EU-RZ / Hosting DE</a:t>
                      </a:r>
                    </a:p>
                  </a:txBody>
                  <a:tcPr marL="45720" marR="45720" marT="18288" marB="18288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✓ DE</a:t>
                      </a:r>
                    </a:p>
                  </a:txBody>
                  <a:tcPr marL="45720" marR="45720" marT="18288" marB="18288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✓ EU</a:t>
                      </a:r>
                    </a:p>
                  </a:txBody>
                  <a:tcPr marL="45720" marR="45720" marT="18288" marB="18288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✓ On-Prem</a:t>
                      </a:r>
                    </a:p>
                  </a:txBody>
                  <a:tcPr marL="45720" marR="45720" marT="18288" marB="18288">
                    <a:solidFill>
                      <a:srgbClr val="C6EFCE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K8 Offene Schnittstellen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45720" marR="45720" marT="18288" marB="18288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45720" marR="45720" marT="18288" marB="18288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45720" marR="45720" marT="18288" marB="18288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teilweise</a:t>
                      </a:r>
                    </a:p>
                  </a:txBody>
                  <a:tcPr marL="45720" marR="45720" marT="18288" marB="18288">
                    <a:solidFill>
                      <a:srgbClr val="FFEB9C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5303520"/>
            <a:ext cx="11247120" cy="82296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txBody>
          <a:bodyPr rtlCol="0" anchor="t" wrap="square" tIns="91440" bIns="91440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1A1A1A"/>
                </a:solidFill>
                <a:latin typeface="Calibri"/>
              </a:rPr>
              <a:t>Option 0 (RPG→Java-Migration, 300–400 T€ lt. GF Technik) wurde bewusst geprüft: Sie verlagert die Abhängigkeit nur auf einen Dienstleister und erfüllt 5 von 8 K.o.-Kriterien nicht. Nachrücker bei Ausfall eines Kandidaten: proALPHA, abas (CZ-Präsenz im RFI klären).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109728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C55A11"/>
                </a:solidFill>
                <a:latin typeface="Calibri"/>
              </a:rPr>
              <a:t>ANHANG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F4E79"/>
                </a:solidFill>
                <a:latin typeface="Calibri"/>
              </a:rPr>
              <a:t>Anhang A3 – Nutzwertanalyse im Detail und Sensitivität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Calibri"/>
              </a:rPr>
              <a:t>HTWG Konstanz · ERP-Systeme · Fallstudie KVA · Entscheidungsvorlage ERP 2028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73952"/>
            <a:ext cx="64008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Calibri"/>
              </a:rPr>
              <a:t>A3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188720"/>
          <a:ext cx="694944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640080"/>
                <a:gridCol w="548640"/>
                <a:gridCol w="640080"/>
                <a:gridCol w="548640"/>
              </a:tblGrid>
              <a:tr h="38862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Kriterium</a:t>
                      </a:r>
                    </a:p>
                  </a:txBody>
                  <a:tcPr marL="45720" marR="45720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Gew. %</a:t>
                      </a:r>
                    </a:p>
                  </a:txBody>
                  <a:tcPr marL="45720" marR="45720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BC</a:t>
                      </a:r>
                    </a:p>
                  </a:txBody>
                  <a:tcPr marL="45720" marR="45720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APplus</a:t>
                      </a:r>
                    </a:p>
                  </a:txBody>
                  <a:tcPr marL="45720" marR="45720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IFS</a:t>
                      </a:r>
                    </a:p>
                  </a:txBody>
                  <a:tcPr marL="45720" marR="45720" marT="18288" marB="18288">
                    <a:solidFill>
                      <a:srgbClr val="1F4E79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Variantenkonfiguration &amp; Variantenstückliste (CTO)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Fertigung &amp; Planung (MRP, Kapazität, Engpass Härterei, Mehrwerk, Rückmeldung)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Projektgeschäft ETO (Meilensteine, Anzahlung, Nachkalkulation)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Service &amp; Installed Base (Seriennr., Verträge, Field Service)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Qualität &amp; Rückverfolgbarkeit (Chargen, Prüfplanung, 8D)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Finanzen, Mandanten, Lokalisierung DE/CZ/CH, E-Rechnung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Integration &amp; Technologie (PDM, Salesforce, API, Power BI, Entra ID)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Betriebsmodell &amp; Datensouveränität (SaaS mit Plan B, EU, Offline-Puffer)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Partner DE+CZ &amp; zeitliche Machbarkeit (Pilsen bis Q3/2027)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Usability Shopfloor/Lager, CZ-Oberfläche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Nutzwert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3,75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3,84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4,09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589520" y="1188720"/>
          <a:ext cx="4206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640080"/>
                <a:gridCol w="640080"/>
                <a:gridCol w="640080"/>
              </a:tblGrid>
              <a:tr h="36576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Szenario</a:t>
                      </a:r>
                    </a:p>
                  </a:txBody>
                  <a:tcPr marL="45720" marR="45720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BC</a:t>
                      </a:r>
                    </a:p>
                  </a:txBody>
                  <a:tcPr marL="45720" marR="45720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APplus</a:t>
                      </a:r>
                    </a:p>
                  </a:txBody>
                  <a:tcPr marL="45720" marR="45720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IFS</a:t>
                      </a:r>
                    </a:p>
                  </a:txBody>
                  <a:tcPr marL="45720" marR="45720" marT="18288" marB="18288"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Basis (Empfehlung)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3,75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3,84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4,09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Fokus Produktion (Vogt/Lang)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3,53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4,05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4,14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Fokus Zeit &amp; Pilsen (Nováková/Haller)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3,97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3,62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3,97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Fokus Souveränität (Brenner/BR)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3,70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4,04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4,24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589520" y="3154680"/>
            <a:ext cx="4206240" cy="27432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F4E79"/>
                </a:solidFill>
                <a:latin typeface="Calibri"/>
              </a:rPr>
              <a:t>Methodik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1A1A1A"/>
                </a:solidFill>
                <a:latin typeface="Calibri"/>
              </a:rPr>
              <a:t>• Gewichte vor der Bewertung festgelegt, abgeleitet aus Umsatzanteilen (CTO 60 %) und Fristen.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1A1A1A"/>
                </a:solidFill>
                <a:latin typeface="Calibri"/>
              </a:rPr>
              <a:t>• Skala 1–5: 3 = nur mit Partner-Erweiterung, 5 = Standard mit Marktstärke.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1A1A1A"/>
                </a:solidFill>
                <a:latin typeface="Calibri"/>
              </a:rPr>
              <a:t>• Kosten bewusst NICHT im Nutzwert, sondern getrennt als TCO → Kennzahl Nutzwert je Mio. €.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1A1A1A"/>
                </a:solidFill>
                <a:latin typeface="Calibri"/>
              </a:rPr>
              <a:t>• Punkte beruhen auf Herstellerangaben und Sekundärquellen – in Drehbuch-Demos zu bestätigen.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109728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C55A11"/>
                </a:solidFill>
                <a:latin typeface="Calibri"/>
              </a:rPr>
              <a:t>ANHANG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F4E79"/>
                </a:solidFill>
                <a:latin typeface="Calibri"/>
              </a:rPr>
              <a:t>Anhang A4 – TCO-Modell: Annahmen offengelegt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Calibri"/>
              </a:rPr>
              <a:t>HTWG Konstanz · ERP-Systeme · Fallstudie KVA · Entscheidungsvorlage ERP 2028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73952"/>
            <a:ext cx="64008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Calibri"/>
              </a:rPr>
              <a:t>A4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097280"/>
          <a:ext cx="1147572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051560"/>
                <a:gridCol w="685800"/>
                <a:gridCol w="685800"/>
                <a:gridCol w="685800"/>
                <a:gridCol w="685800"/>
                <a:gridCol w="4937760"/>
              </a:tblGrid>
              <a:tr h="232756"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Parameter</a:t>
                      </a:r>
                    </a:p>
                  </a:txBody>
                  <a:tcPr marL="45720" marR="45720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Einheit</a:t>
                      </a:r>
                    </a:p>
                  </a:txBody>
                  <a:tcPr marL="45720" marR="45720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BC</a:t>
                      </a:r>
                    </a:p>
                  </a:txBody>
                  <a:tcPr marL="45720" marR="45720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BC Basis</a:t>
                      </a:r>
                    </a:p>
                  </a:txBody>
                  <a:tcPr marL="45720" marR="45720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APplus</a:t>
                      </a:r>
                    </a:p>
                  </a:txBody>
                  <a:tcPr marL="45720" marR="45720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IFS</a:t>
                      </a:r>
                    </a:p>
                  </a:txBody>
                  <a:tcPr marL="45720" marR="45720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Quelle / Annahme</a:t>
                      </a:r>
                    </a:p>
                  </a:txBody>
                  <a:tcPr marL="45720" marR="45720" marT="18288" marB="18288">
                    <a:solidFill>
                      <a:srgbClr val="1F4E79"/>
                    </a:solidFill>
                  </a:tcPr>
                </a:tc>
              </a:tr>
              <a:tr h="232756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Vollnutzer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Anzahl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120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120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120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120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Mengengerüst bereinigt (W-07)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32756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Light-/Team-User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Anzahl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110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110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110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110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Mengengerüst bereinigt (W-07)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</a:tr>
              <a:tr h="232756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Shopfloor-Geräte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Anzahl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Annahme: 30 geteilte Tablets/Terminals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32756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Preis Vollnutzer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€/Monat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130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170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BC: Premium 110 USD lt. Microsoft-Preiserhöhung 11/2025 ≈ 100 €; APplus/IFS: ANNAHME (keine öffentlichen Listenpreise)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</a:tr>
              <a:tr h="232756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Preis Light-User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€/Monat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7,5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7,5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BC Team Member 8 USD; Rest ANNAHME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32756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Preis Gerät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€/Monat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BC Device 45 USD; Rest ANNAHME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</a:tr>
              <a:tr h="232756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Branchen-Add-ons (Konfigurator, APS, QM, Service mobil)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€/Vollnutzer/Monat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ANNAHME: ISV-Erweiterungen auf AppSource; bei APplus/IFS im Standard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32756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Hosting Private Cloud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€/Jahr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36.000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ANNAHME APplus im DE-RZ des Anbieters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</a:tr>
              <a:tr h="232756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Subskriptionsanteil Jahr 1 (2027)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40 %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40 %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40 %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40 %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Ramp-up: Projekt- und Pilsen-Nutzer ab Q2/2027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32756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Externe Beratertage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PT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420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330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550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700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ANNAHME aus Projektgröße (CTO+ETO+3 Länder); IFS umfangreicher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</a:tr>
              <a:tr h="232756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Tagessatz extern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€/PT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1.150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1.150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1.250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1.350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ANNAHME Marktüblich DE/CZ-Mischsatz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32756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Interne Aufwände (Key User, IT)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€ einmalig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400.000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350.000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450.000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500.000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Mail Haller 19.01.: 350–450 T€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</a:tr>
              <a:tr h="232756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Datenbereinigung &amp; Migration (extern)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€ einmalig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80.000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70.000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80.000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90.000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ANNAHME; Stücklisten-Qualität schlecht (Int. 04)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32756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Schnittstellen (PDM, Salesforce, EDI, Kardex, Carrier)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€ einmalig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120.000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100.000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120.000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130.000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ANNAHME 5–6 Schnittstellen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</a:tr>
              <a:tr h="232756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Hardware Shopfloor/Scanner (BDE-Ersatz)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€ einmalig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90.000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90.000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90.000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90.000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ANNAHME 30 Tablets + 25 Scanner + Drucker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32756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Schulung &amp; Change (inkl. BR-Forderung)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€ einmalig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40.000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35.000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45.000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50.000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ANNAHME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</a:tr>
              <a:tr h="232756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Risikopuffer auf Einmalkosten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15 %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15 %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15 %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15 %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Erfahrungswert; 2016: Kostenüberschreitung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32756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Anteil Einmalkosten in Jahr 1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60 %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60 %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60 %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60 %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Rest in Jahr 2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</a:tr>
              <a:tr h="232756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Betrieb/Support Partner (AMS)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€/Jahr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40.000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35.000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30.000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45.000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ANNAHME; Jahr 1 zu 50 %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32756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2. Internetleitung Singen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€/Jahr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18.000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18.000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18.000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18.000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Int. 04 Brenner: ca. 18 T€/Jahr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</a:tr>
              <a:tr h="232764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TCO 5 Jahre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€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2,60 Mio.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2,26 Mio.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3,17 Mio.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3,80 Mio.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Summe 2027–2031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109728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C55A11"/>
                </a:solidFill>
                <a:latin typeface="Calibri"/>
              </a:rPr>
              <a:t>ANHANG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F4E79"/>
                </a:solidFill>
                <a:latin typeface="Calibri"/>
              </a:rPr>
              <a:t>Anhang A5 – Risiken und Gegenmaßnahmen (inkl. Lehren aus „KVA neu“ 2016)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Calibri"/>
              </a:rPr>
              <a:t>HTWG Konstanz · ERP-Systeme · Fallstudie KVA · Entscheidungsvorlage ERP 2028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73952"/>
            <a:ext cx="64008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Calibri"/>
              </a:rPr>
              <a:t>A5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188720"/>
          <a:ext cx="1147572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017520"/>
                <a:gridCol w="4983480"/>
                <a:gridCol w="1280160"/>
              </a:tblGrid>
              <a:tr h="484632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Risiko</a:t>
                      </a:r>
                    </a:p>
                  </a:txBody>
                  <a:tcPr marL="45720" marR="45720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Ursache 2016 / Fundstelle</a:t>
                      </a:r>
                    </a:p>
                  </a:txBody>
                  <a:tcPr marL="45720" marR="45720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Gegenmaßnahme</a:t>
                      </a:r>
                    </a:p>
                  </a:txBody>
                  <a:tcPr marL="45720" marR="45720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Verantwortlich</a:t>
                      </a:r>
                    </a:p>
                  </a:txBody>
                  <a:tcPr marL="45720" marR="45720" marT="18288" marB="18288">
                    <a:solidFill>
                      <a:srgbClr val="1F4E79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Konfigurator nicht abbildbar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3 Konzepte, keines umgesetzt (IT-Historie)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PoC mit 3 realen Typenschlüsseln VOR Vertrag; Regelwerk-Owner Konstruktion (Dr. Weber)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LK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Key User nicht verfügbar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Auftragsspitze 2015; Int. 05: 25 % Doppelerfassung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20–30 % Freistellung schriftlich, Vertretung, Q4-Spitze im Plan meiden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GF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Stammdatenqualität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Dubletten, keine Revisionen; 38.000 Stücklisten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Bereinigung ab sofort, nur verwendete Stücklisten migrieren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IT/AV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Revidierte Entscheidungen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GF Technik revidierte u. a. Seriennummern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Entscheidungslog, Änderung nur per LK-Beschluss; Vogt unterschreibt Projektauftrag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GF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Unerfüllbare Abnahme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340 Listen als Abnahmekriterium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Top-40-Liste aus Nutzungsstatistik, Rest Power BI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PL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Wissensverlust Brugger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Versteckte Preislogik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Dokumentation bis 06/2027, Bereitschaft auf Stundenbasis, RPG-Dienstleister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IT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Ausfall NAV Pilsen vor Go-live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Server 2016, Partner-Kündigung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Notfallsupport bis 09/2027, VM-Backup des NAV-Servers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Werk Pilsen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Betriebsrat blockiert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BDE 2012: Einigungsstelle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Rahmen-BV parallel zum RFP, BR in Demos, keine Personalnummer je AG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GF/BR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Internetausfall (SaaS)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2 Ausfälle 2025 &gt; 4 h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2. Leitung (18 T€/J.), Offline-Puffer für Rückmeldung/Versand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IT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109728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C55A11"/>
                </a:solidFill>
                <a:latin typeface="Calibri"/>
              </a:rPr>
              <a:t>ANHANG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F4E79"/>
                </a:solidFill>
                <a:latin typeface="Calibri"/>
              </a:rPr>
              <a:t>Anhang A6 – Nächste Schritte bis zur Vertragsunterschrift (April 2027)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Calibri"/>
              </a:rPr>
              <a:t>HTWG Konstanz · ERP-Systeme · Fallstudie KVA · Entscheidungsvorlage ERP 2028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73952"/>
            <a:ext cx="64008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Calibri"/>
              </a:rPr>
              <a:t>A6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188720"/>
          <a:ext cx="114757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7315200"/>
                <a:gridCol w="3063240"/>
              </a:tblGrid>
              <a:tr h="52578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Wann</a:t>
                      </a:r>
                    </a:p>
                  </a:txBody>
                  <a:tcPr marL="45720" marR="45720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Schritt</a:t>
                      </a:r>
                    </a:p>
                  </a:txBody>
                  <a:tcPr marL="45720" marR="45720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Ergebnis</a:t>
                      </a:r>
                    </a:p>
                  </a:txBody>
                  <a:tcPr marL="45720" marR="45720" marT="18288" marB="18288">
                    <a:solidFill>
                      <a:srgbClr val="1F4E79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Dez 2026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Beirat: Entscheidungsvorlage, Budgetrahmen, Termine (Folie 5)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Mandat für Ausschreibung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Dez 2026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Sofortmaßnahmen: E-Rechnungs-Konverter, NAV-Notfallsupport, Brugger-Nutzungsstatistik + Doku, Stammdaten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Fristen 2027 entschärft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Jan 2027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Lastenheft finalisieren (Basis XLSX Blatt 3), RFP an 3 Anbieter + Partner DE/CZ; Rückfrage CZ-Lokalisierung APplus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Vergleichbare Angebote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Feb 2027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Drehbuch-Demos (je 2 Tage) mit KVA-Szenarien: Baukasten, Sonderantrieb, Härterei, Rückruf, IC Pilsen; Meister + 2 BR-Mitglieder bewerten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Punkte der Nutzwertanalyse bestätigt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Mär 2027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PoC Konfigurator (2–3 Wochen, Favorit + 1), Referenzbesuche DE und CZ, Festpreis-/Budgetangebote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Go/No-Go je Kandidat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Mär 2027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Rahmen-Betriebsvereinbarung IT abschließen; Salesforce 1 Jahr verlängern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Voraussetzung Vertrag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Apr 2027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Vertragsverhandlung (Exit-Klausel, AVV, SLA, Preisbindung 5 J.), LK-Beschluss, Unterschrift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Projektstart Pilsen-Pilot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65760" y="5532120"/>
            <a:ext cx="11475720" cy="59436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txBody>
          <a:bodyPr rtlCol="0" anchor="t" wrap="square" tIns="91440" bIns="91440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Calibri"/>
              </a:rPr>
              <a:t>Offene Rückfragen an die GF (Rollenspiel): Status Rahmen-BV? · Gilt 01.01.2028 auch bei Verschiebung des Vertrags? · Ist die Obergrenze 1,5 Mio. € TCO beschlossen oder Wunsch? · NIS2-Registrierung erfolgt? · Ist DataSoft zu befristetem Notfallsupport bereit?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109728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C55A11"/>
                </a:solidFill>
                <a:latin typeface="Calibri"/>
              </a:rPr>
              <a:t>ANHANG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F4E79"/>
                </a:solidFill>
                <a:latin typeface="Calibri"/>
              </a:rPr>
              <a:t>Anhang A7 – Longlist komplett: wer warum ausscheidet (für Rückfragen)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Calibri"/>
              </a:rPr>
              <a:t>HTWG Konstanz · ERP-Systeme · Fallstudie KVA · Entscheidungsvorlage ERP 2028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73952"/>
            <a:ext cx="64008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Calibri"/>
              </a:rPr>
              <a:t>A7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097280"/>
          <a:ext cx="11567160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"/>
                <a:gridCol w="2377440"/>
                <a:gridCol w="1737360"/>
                <a:gridCol w="2194560"/>
                <a:gridCol w="1097280"/>
                <a:gridCol w="3840480"/>
              </a:tblGrid>
              <a:tr h="309282">
                <a:tc>
                  <a:txBody>
                    <a:bodyPr/>
                    <a:lstStyle/>
                    <a:p>
                      <a:r>
                        <a:rPr sz="680" b="1">
                          <a:solidFill>
                            <a:srgbClr val="FFFFFF"/>
                          </a:solidFill>
                          <a:latin typeface="Calibri"/>
                        </a:rPr>
                        <a:t>Nr</a:t>
                      </a:r>
                    </a:p>
                  </a:txBody>
                  <a:tcPr marL="45720" marR="45720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1">
                          <a:solidFill>
                            <a:srgbClr val="FFFFFF"/>
                          </a:solidFill>
                          <a:latin typeface="Calibri"/>
                        </a:rPr>
                        <a:t>Produkt</a:t>
                      </a:r>
                    </a:p>
                  </a:txBody>
                  <a:tcPr marL="45720" marR="45720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1">
                          <a:solidFill>
                            <a:srgbClr val="FFFFFF"/>
                          </a:solidFill>
                          <a:latin typeface="Calibri"/>
                        </a:rPr>
                        <a:t>Betrieb</a:t>
                      </a:r>
                    </a:p>
                  </a:txBody>
                  <a:tcPr marL="45720" marR="45720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1">
                          <a:solidFill>
                            <a:srgbClr val="FFFFFF"/>
                          </a:solidFill>
                          <a:latin typeface="Calibri"/>
                        </a:rPr>
                        <a:t>Präsenz CZ</a:t>
                      </a:r>
                    </a:p>
                  </a:txBody>
                  <a:tcPr marL="45720" marR="45720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1">
                          <a:solidFill>
                            <a:srgbClr val="FFFFFF"/>
                          </a:solidFill>
                          <a:latin typeface="Calibri"/>
                        </a:rPr>
                        <a:t>Ergebnis</a:t>
                      </a:r>
                    </a:p>
                  </a:txBody>
                  <a:tcPr marL="45720" marR="45720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1">
                          <a:solidFill>
                            <a:srgbClr val="FFFFFF"/>
                          </a:solidFill>
                          <a:latin typeface="Calibri"/>
                        </a:rPr>
                        <a:t>Begründung</a:t>
                      </a:r>
                    </a:p>
                  </a:txBody>
                  <a:tcPr marL="45720" marR="45720" marT="18288" marB="18288">
                    <a:solidFill>
                      <a:srgbClr val="1F4E79"/>
                    </a:solidFill>
                  </a:tcPr>
                </a:tc>
              </a:tr>
              <a:tr h="309282"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Dynamics 365 Business Central (+ Fertigungs-/Konfigurator-Erweiterung)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SaaS (Azure EU); On-Prem/Partner-Hosting möglich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sehr hoch – CZ-Lokalisierung von Microsoft, viele Partner (u. a. DataSoft-Angebot)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Shortlist</a:t>
                      </a:r>
                    </a:p>
                  </a:txBody>
                  <a:tcPr marL="45720" marR="45720" marT="18288" marB="18288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Günstigste Variante, Pilsen schnell machbar, Plan B (Hosting) möglich; Risiko: Konfigurator/APS nur über Partnerlösungen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09282"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APplus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Cloud, Hybrid, On-Prem (lt. erp-software.org)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mittel – Asseco Solutions mit CZ-Organisation (HELIOS); APplus-CZ-Lokalisierung UNBESTÄTIGT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Shortlist (mit Vorbehalt K4/K6)</a:t>
                      </a:r>
                    </a:p>
                  </a:txBody>
                  <a:tcPr marL="45720" marR="45720" marT="18288" marB="18288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Deutscher Mittelstandsanbieter, starke Variantenfertigung; K.o.-Prüfung CZ im RFI zwingend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</a:tr>
              <a:tr h="309282"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IFS Cloud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SaaS oder kundenbetrieben (On-Prem/Remote)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hoch – Präsenz CZ seit 2000, Partner CDC Data, InfoConsulting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Shortlist</a:t>
                      </a:r>
                    </a:p>
                  </a:txBody>
                  <a:tcPr marL="45720" marR="45720" marT="18288" marB="18288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Funktional breiteste Abdeckung (ETO + Service), EU-Anbieter, beide Betriebsmodelle; teuerste Option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09282"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proALPHA ERP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Business Cloud (managed), On-Prem, hybrid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nicht belegt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Nachrücker</a:t>
                      </a:r>
                    </a:p>
                  </a:txBody>
                  <a:tcPr marL="45720" marR="45720" marT="18288" marB="18288"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Fachlich passend, aber keine belegte CZ-Präsenz/-Lokalisierung (K4/K6) – im RFI nachfragen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</a:tr>
              <a:tr h="309282"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abas ERP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Cloud, On-Prem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nicht belegt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Nachrücker</a:t>
                      </a:r>
                    </a:p>
                  </a:txBody>
                  <a:tcPr marL="45720" marR="45720" marT="18288" marB="18288"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Fachlich passend; CZ-Partner nicht belegt (K6)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09282"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S/4HANA Cloud Public Edition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nur SaaS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hoch (Länderversion CZ)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ausgeschieden</a:t>
                      </a:r>
                    </a:p>
                  </a:txBody>
                  <a:tcPr marL="45720" marR="45720" marT="18288" marB="18288"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Nur SaaS ohne Plan B; laut SAP-KBA 3744200 kein Outbound-E-Invoicing CZ in DRC; Akzeptanzrisiko nach SAP-Abbruch 2016 („kein SAP“-Karte)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</a:tr>
              <a:tr h="309282"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S/4HANA Cloud Private Edition (RISE)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Private Cloud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hoch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ausgeschieden</a:t>
                      </a:r>
                    </a:p>
                  </a:txBody>
                  <a:tcPr marL="45720" marR="45720" marT="18288" marB="18288"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Für 420 MA / 230 Nutzer überdimensioniert, TCO deutlich über Rahmen, Komplexität wie 2016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09282"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Dynamics 365 Finance + Supply Chain Mgmt.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nur SaaS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hoch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ausgeschieden</a:t>
                      </a:r>
                    </a:p>
                  </a:txBody>
                  <a:tcPr marL="45720" marR="45720" marT="18288" marB="18288"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Enterprise-Lizenzmodell (höhere Preise, Mindestmengen) und Projektaufwand über Rahmen; nur SaaS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</a:tr>
              <a:tr h="309282"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CloudSuite Industrial (SyteLine)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überwiegend SaaS (AWS)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gering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ausgeschieden</a:t>
                      </a:r>
                    </a:p>
                  </a:txBody>
                  <a:tcPr marL="45720" marR="45720" marT="18288" marB="18288"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Geringe Partnerdichte DE/CZ (K6), US-Cloud ohne Plan B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09282"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Infor LN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SaaS / On-Prem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gering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ausgeschieden</a:t>
                      </a:r>
                    </a:p>
                  </a:txBody>
                  <a:tcPr marL="45720" marR="45720" marT="18288" marB="18288"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Eher Großunternehmen, Partner CZ (K6)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</a:tr>
              <a:tr h="309282"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Kinetic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SaaS / On-Prem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gering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ausgeschieden</a:t>
                      </a:r>
                    </a:p>
                  </a:txBody>
                  <a:tcPr marL="45720" marR="45720" marT="18288" marB="18288"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Schwache DACH-/CZ-Präsenz (K6)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09282"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PSIpenta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Cloud / On-Prem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gering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ausgeschieden</a:t>
                      </a:r>
                    </a:p>
                  </a:txBody>
                  <a:tcPr marL="45720" marR="45720" marT="18288" marB="18288"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CZ-Präsenz nicht belegt (K6), Fokus Einzelfertigung statt Serienvarianten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</a:tr>
              <a:tr h="309282"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ams.erp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Cloud / On-Prem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nicht belegt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ausgeschieden</a:t>
                      </a:r>
                    </a:p>
                  </a:txBody>
                  <a:tcPr marL="45720" marR="45720" marT="18288" marB="18288"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Stärke Losgröße-1-Projektgeschäft, aber 60 % des Umsatzes sind CTO-Serienvarianten; CZ fehlt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09282"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HELIOS Nephrite/Green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Cloud / On-Prem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sehr hoch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ausgeschieden</a:t>
                      </a:r>
                    </a:p>
                  </a:txBody>
                  <a:tcPr marL="45720" marR="45720" marT="18288" marB="18288"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Lokale CZ-Lösung, kein DE-Rollout (K4/K6) – höchstens Pilsen-Insel (widerspricht Ein-System-Ziel)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</a:tr>
              <a:tr h="309282"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Odoo Enterprise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SaaS / On-Prem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mittel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ausgeschieden</a:t>
                      </a:r>
                    </a:p>
                  </a:txBody>
                  <a:tcPr marL="45720" marR="45720" marT="18288" marB="18288"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K1 (Konfigurator) und Branchentiefe nicht belegt; Partnerqualität stark schwankend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09288"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Option 0: Modernisierung KVA-WARE (RPG → Java)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On-Prem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keine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ausgeschieden (K.o.)</a:t>
                      </a:r>
                    </a:p>
                  </a:txBody>
                  <a:tcPr marL="45720" marR="45720" marT="18288" marB="18288"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Erfüllt K1, K3, K4, K5, K6 nicht; Abhängigkeit verlagert sich nur auf Dienstleister; Beiratsbeschluss „zukunftsfähig“ nicht erfüllt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109728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C55A11"/>
                </a:solidFill>
                <a:latin typeface="Calibri"/>
              </a:rPr>
              <a:t>ANHANG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F4E79"/>
                </a:solidFill>
                <a:latin typeface="Calibri"/>
              </a:rPr>
              <a:t>Anhang A8 – Lizenzmodelle: was wird eigentlich bezahlt?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Calibri"/>
              </a:rPr>
              <a:t>HTWG Konstanz · ERP-Systeme · Fallstudie KVA · Entscheidungsvorlage ERP 2028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73952"/>
            <a:ext cx="64008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Calibri"/>
              </a:rPr>
              <a:t>A8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143000"/>
          <a:ext cx="1156716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103120"/>
                <a:gridCol w="1920240"/>
                <a:gridCol w="1463040"/>
                <a:gridCol w="1097280"/>
                <a:gridCol w="2240280"/>
                <a:gridCol w="1280160"/>
              </a:tblGrid>
              <a:tr h="561702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System</a:t>
                      </a:r>
                    </a:p>
                  </a:txBody>
                  <a:tcPr marL="45720" marR="45720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Lizenzmodell</a:t>
                      </a:r>
                    </a:p>
                  </a:txBody>
                  <a:tcPr marL="45720" marR="45720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Nutzerarten</a:t>
                      </a:r>
                    </a:p>
                  </a:txBody>
                  <a:tcPr marL="45720" marR="45720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Shopfloor/Lager</a:t>
                      </a:r>
                    </a:p>
                  </a:txBody>
                  <a:tcPr marL="45720" marR="45720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Kauf möglich?</a:t>
                      </a:r>
                    </a:p>
                  </a:txBody>
                  <a:tcPr marL="45720" marR="45720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Konsequenz für KVA</a:t>
                      </a:r>
                    </a:p>
                  </a:txBody>
                  <a:tcPr marL="45720" marR="45720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Prüfstatus</a:t>
                      </a:r>
                    </a:p>
                  </a:txBody>
                  <a:tcPr marL="45720" marR="45720" marT="18288" marB="18288">
                    <a:solidFill>
                      <a:srgbClr val="1F4E79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Business Central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Subskription pro Named User/Monat (SaaS); On-Prem/Hosting über Partner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Essentials, Premium (nötig für Fertigung + Service), Team Member (lesen/leicht ändern)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Device-Lizenz für geteilte Geräte (Tablets, Terminals)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On-Prem-Lizenzierung über Partner – Konditionen prüfen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120 Premium + 110 Team Member + 30 Devices; Branchen-Apps meist zusätzlich pro User/Monat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BC-Preise USD verifiziert; Add-ons im RFP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Asseco APplus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Kauflizenz + jährliche Wartung ODER Subskription (Cloud/Hybrid)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projektspezifisch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im RFP abfragen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ja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Passt zu Vogt („keine Miete auf Lebenszeit“) und zur Cloud-Präferenz der CFO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lt. erp-software.org; keine öffentliche Preisliste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IFS Cloud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Subskription (auch bei kundenbetriebenem Betrieb)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Vollnutzer / eingeschränkte Nutzer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im RFP abfragen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im RFP klären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Höchste laufende Kosten; Mindestabnahmen prüfen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ANNAHME – im RFP validieren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SAP S/4HANA Cloud Public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Subskription nach Full Usage Equivalents (FUE)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FUE-gewichtet nach Nutzungsart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über FUE-Gewichtung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nein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nur SaaS → kein Plan B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Einschätzung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D365 Finance + SCM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Subskription pro User, Mindestmenge Volllizenzen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Full, Activity, Team Member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Device-Lizenzen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nein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Mindestmengen/Preisniveau über Rahmen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Einschätzung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561708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Option 0 KVA-WARE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keine Lizenz, aber Dienstleistervertrag + IBM-Leasing bis 06/2029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Kaba-BDE (Ersatz nötig)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Kosten verlagern sich auf Dienstleister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Fallpaket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20040" y="5257800"/>
            <a:ext cx="11567160" cy="86868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txBody>
          <a:bodyPr rtlCol="0" anchor="t" wrap="square" tIns="91440" bIns="91440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1A1A1A"/>
                </a:solidFill>
                <a:latin typeface="Calibri"/>
              </a:rPr>
              <a:t>Warum das wichtig ist: 210 Mitarbeitende melden in der Fertigung zurück. Würde jede Person eine Volllizenz brauchen, stiege die Subskription um ein Vielfaches. Deshalb rechnen wir mit 120 Voll- und 110 Light-Usern plus 30 Geräte-Lizenzen und fragen das Lizenzmodell für alle drei Nutzerarten im RFP verbindlich ab (inkl. Preisbindung über 5 Jahre).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109728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C55A11"/>
                </a:solidFill>
                <a:latin typeface="Calibri"/>
              </a:rPr>
              <a:t>ANHANG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F4E79"/>
                </a:solidFill>
                <a:latin typeface="Calibri"/>
              </a:rPr>
              <a:t>Anhang A9 – Störinformationen: was wir bewusst nicht verwendet haben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Calibri"/>
              </a:rPr>
              <a:t>HTWG Konstanz · ERP-Systeme · Fallstudie KVA · Entscheidungsvorlage ERP 2028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73952"/>
            <a:ext cx="64008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Calibri"/>
              </a:rPr>
              <a:t>A9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097280"/>
          <a:ext cx="11567160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"/>
                <a:gridCol w="3566160"/>
                <a:gridCol w="1645920"/>
                <a:gridCol w="3017520"/>
                <a:gridCol w="3017520"/>
              </a:tblGrid>
              <a:tr h="250371">
                <a:tc>
                  <a:txBody>
                    <a:bodyPr/>
                    <a:lstStyle/>
                    <a:p>
                      <a:r>
                        <a:rPr sz="680" b="1">
                          <a:solidFill>
                            <a:srgbClr val="FFFFFF"/>
                          </a:solidFill>
                          <a:latin typeface="Calibri"/>
                        </a:rPr>
                        <a:t>Nr</a:t>
                      </a:r>
                    </a:p>
                  </a:txBody>
                  <a:tcPr marL="45720" marR="45720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1">
                          <a:solidFill>
                            <a:srgbClr val="FFFFFF"/>
                          </a:solidFill>
                          <a:latin typeface="Calibri"/>
                        </a:rPr>
                        <a:t>Information</a:t>
                      </a:r>
                    </a:p>
                  </a:txBody>
                  <a:tcPr marL="45720" marR="45720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1">
                          <a:solidFill>
                            <a:srgbClr val="FFFFFF"/>
                          </a:solidFill>
                          <a:latin typeface="Calibri"/>
                        </a:rPr>
                        <a:t>Fundstelle</a:t>
                      </a:r>
                    </a:p>
                  </a:txBody>
                  <a:tcPr marL="45720" marR="45720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1">
                          <a:solidFill>
                            <a:srgbClr val="FFFFFF"/>
                          </a:solidFill>
                          <a:latin typeface="Calibri"/>
                        </a:rPr>
                        <a:t>Warum irreführend</a:t>
                      </a:r>
                    </a:p>
                  </a:txBody>
                  <a:tcPr marL="45720" marR="45720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1">
                          <a:solidFill>
                            <a:srgbClr val="FFFFFF"/>
                          </a:solidFill>
                          <a:latin typeface="Calibri"/>
                        </a:rPr>
                        <a:t>Umgang</a:t>
                      </a:r>
                    </a:p>
                  </a:txBody>
                  <a:tcPr marL="45720" marR="45720" marT="18288" marB="18288">
                    <a:solidFill>
                      <a:srgbClr val="1F4E79"/>
                    </a:solidFill>
                  </a:tcPr>
                </a:tc>
              </a:tr>
              <a:tr h="250371"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Lastenheft 2015: Zahlen (220 MA, 31.000 Artikel, Pilsen 25 MA), Ziel SAP ERP 6.0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02_Projekt/Lastenheft v0.7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11 Jahre alt, nie freigegeben, Mengengerüst und Organisation überholt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Nur fachliche Ideen übernommen (Phantombaugruppen, Meilensteinfaktura); keine Zahl verwendet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50371"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Anekdoten: Freund „mit Business Central super zufrieden“, anderer „schlecht mit S/4 Cloud“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Interview 01 Kessler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Einzelmeinungen ohne Bezug zu KVA-Prozessen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Nicht in Bewertung; stattdessen Referenzbesuche bei vergleichbaren Variantenfertigern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</a:tr>
              <a:tr h="250371"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Anbieter „von der Messe, nur Mittelstand, Süddeutschland“ – Name unbekannt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Interview 02 Vogt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Nicht prüfbar, persönliche Präferenz (T-011)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Gestrichen; regionale Partnernähe steckt im Kriterium Partner DE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50371"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Anonyme Karte „kein SAP“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Flipchart 2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Stimmungsbild, keine Anforderung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Nur als Akzeptanzrisiko gewertet, nicht als Ausschlussgrund allein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</a:tr>
              <a:tr h="250371"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„ERP mit integrierter KI, die Anfragen automatisch beantwortet“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Interview 01 / A-007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Unkonkret, löst kein Kernproblem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Kann; nur als Roadmap-Aspekt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50371"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Konfigurator offline auf dem iPad mit 3D-Modell beim Kunden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Interview 05 Moser / V-002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Lösungswunsch; 3D liegt im CAD; erhöht K.o.-Risiko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Phase 2; Muss ist nur ein integriertes Regelwerk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</a:tr>
              <a:tr h="250371"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Oberfläche Rumänisch/Türkisch für 2 Lagermitarbeiter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Interview 08 Hummel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Randfall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Kann; Piktogramm-/Scanner-Apps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50371"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„30.000 Standardgetriebe pro Jahr“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Interview 08 Hummel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Zahl unplausibel (Produktion: 22.000)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Planwert 22.000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</a:tr>
              <a:tr h="250371"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Wehrtechnik-Kunde: „Daten bei Amazon = Problem“ – „von einem Kunden gehört“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Interview 02 Vogt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Kein Dokument; Mail Brenner 21.01.: aktuell keine Vorgabe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Mögliche künftige Anforderung (Kann), nicht K.o.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50371"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„Sehr günstiges tschechisches ERP“ einer Schwesterfirma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Interview 11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Nováková empfiehlt es selbst nicht für die Gruppe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Nicht berücksichtigt (HELIOS als Vertreter in Longlist)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</a:tr>
              <a:tr h="250371"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Schnelles separates Cloud-ERP für Pilsen als 6-Monats-Brücke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Interview 11 Dvořák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Doppelmigration, neue Insel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Abgelehnt; Pilsen als Pilot auf Ziel-ERP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50371"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Liefertreue 71 %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Controlling / Folien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Gemessen gegen letzten bestätigten Termin = geschönt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58 % als Ausgangswert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</a:tr>
              <a:tr h="250371"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Umsatz 86,4 Mio. €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Unternehmensprofil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Summe der Einzelabschlüsse, nicht konsolidiert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82,7 Mio. € für Kennzahlen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50371"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„Alle 340 Listen müssen verfügbar sein“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Lastenheft 2015 / A-010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Nur ca. 40 genutzt; war 2016 unerfüllbar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Top-40 nach Nutzungsstatistik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</a:tr>
              <a:tr h="250371"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„10 Jahre Historie im neuen System“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A-009 Vertrieb mündlich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Teuer, schlechte Datenqualität, kein Nutzen im Tagesgeschäft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Archiv statt Migration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50371"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Modernisierung RPG→Java für 300–400 T€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Interview 02 / Mail Vogt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Kein Angebot vorliegend; löst Funktionslücken nicht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Als Option 0 fair geprüft und verworfen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</a:tr>
              <a:tr h="250371"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Einsparung Einkaufsbündelung 300–500 T€ p. a.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Interview 07 Frick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Unbelegte Eigenschätzung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Im Business Case halbiert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50371"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LkSG „ab 1.000 MA, noch nicht relevant“, CO₂-Fußabdruck, IoT/Predictive Maintenance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Interview 07, 09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Für die Systemauswahl Phase 1 nicht entscheidend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Kann/Phase 2; nur offene API gefordert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</a:tr>
              <a:tr h="250371"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Umbau Organigramm 01.07.2026 (AV + Produktion)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Organigramm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Ohne Einfluss auf Systemauswahl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Nicht berücksichtigt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50380"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„Nehmen Sie, was die Produktion versteht. Die Buchhaltung kommt mit allem klar.“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Interview 04 Brugger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Meinung; Finanzen/Konsolidierung sind K.o.-relevant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80" b="0">
                          <a:solidFill>
                            <a:srgbClr val="1A1A1A"/>
                          </a:solidFill>
                          <a:latin typeface="Calibri"/>
                        </a:rPr>
                        <a:t>Nicht als Kriterium übernommen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109728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C55A11"/>
                </a:solidFill>
                <a:latin typeface="Calibri"/>
              </a:rPr>
              <a:t>ANHANG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F4E79"/>
                </a:solidFill>
                <a:latin typeface="Calibri"/>
              </a:rPr>
              <a:t>Anhang A10 – Länder und Rechtsrahmen: Inland, EU-Ausland, Drittland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Calibri"/>
              </a:rPr>
              <a:t>HTWG Konstanz · ERP-Systeme · Fallstudie KVA · Entscheidungsvorlage ERP 2028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73952"/>
            <a:ext cx="64008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Calibri"/>
              </a:rPr>
              <a:t>A10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188720"/>
          <a:ext cx="1156716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280160"/>
                <a:gridCol w="5029200"/>
                <a:gridCol w="3429000"/>
              </a:tblGrid>
              <a:tr h="768096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Gesellschaft</a:t>
                      </a:r>
                    </a:p>
                  </a:txBody>
                  <a:tcPr marL="45720" marR="45720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45720" marR="45720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Rechtliche Anforderungen an das ERP</a:t>
                      </a:r>
                    </a:p>
                  </a:txBody>
                  <a:tcPr marL="45720" marR="45720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Weitere Anforderungen</a:t>
                      </a:r>
                    </a:p>
                  </a:txBody>
                  <a:tcPr marL="45720" marR="45720" marT="18288" marB="18288">
                    <a:solidFill>
                      <a:srgbClr val="1F4E79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Deutschland (Singen)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Inland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GoBD + Verfahrensdoku, HGB (IFRS künftig Kann), E-Rechnung Versand ab 01.01.2027, NIS2, BetrVG § 87/90, Exportkontrolle (BAFA, Dual-Use)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EUR, DATEV-Lohn-Schnittstelle, ELO-Archiv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Tschechien (Plzeň)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EU-Ausland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Kontrollmeldung (kontrolní hlášení), Intrastat, Zusammenfassende Meldung/VIES, CZ-Rechnungslegung, steuerfreie innergemeinschaftliche Lieferung, Verrechnungspreise IC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CZK, Oberfläche + Belege Tschechisch, lokaler Lohn-Dienstleister, CZ-sprachiger Partner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Schweiz (Kreuzlingen)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Drittland (nicht EU)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Zoll: Ausfuhranmeldung (ATLAS) + Ursprungsnachweise für jede Lieferung, MWST CH, QR-Rechnung, Datenschutz revDSG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CHF, Bexio ablösen, Servicetechniker CH in Phase 1b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Datenstandort / Anbieter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EU vs. USA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EU-Rechenzentrum + AVV; bei US-Anbietern CLOUD Act als Restrisiko (Brenner, BR); Option Datenhaltung DE für Wehrtechnik abfragen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BC: Azure EU-Region + Plan B Hosting DE; APplus DE; IFS EU (SE)</a:t>
                      </a:r>
                    </a:p>
                  </a:txBody>
                  <a:tcPr marL="45720" marR="45720" marT="18288" marB="18288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20040" y="5212080"/>
            <a:ext cx="11567160" cy="91440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txBody>
          <a:bodyPr rtlCol="0" anchor="t" wrap="square" tIns="91440" bIns="91440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1A1A1A"/>
                </a:solidFill>
                <a:latin typeface="Calibri"/>
              </a:rPr>
              <a:t>Folge für die Auswahl: Lokalisierung für DE, CZ und CH ist K.o.-Kriterium K4, mehrere Gesellschaften und Währungen K3. Schweiz-Lieferungen brauchen heute Papier-Zolldokumente (Interview 08) – Zoll/ATLAS-Anbindung ist Muss (L-006). Datenhaltung: EU-Rechenzentrum ist K7; die Schweiz erkennt das EU-Datenschutzniveau als angemessen an.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109728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C55A11"/>
                </a:solidFill>
                <a:latin typeface="Calibri"/>
              </a:rPr>
              <a:t>ANHANG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F4E79"/>
                </a:solidFill>
                <a:latin typeface="Calibri"/>
              </a:rPr>
              <a:t>Anhang A11 – Quellen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Calibri"/>
              </a:rPr>
              <a:t>HTWG Konstanz · ERP-Systeme · Fallstudie KVA · Entscheidungsvorlage ERP 2028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73952"/>
            <a:ext cx="64008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Calibri"/>
              </a:rPr>
              <a:t>A11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11247120" cy="4846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45720" rIns="45720"/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• Fallpaket KVA (HTWG Konstanz, ERP-Systeme): Aufgabenstellung, Ordner 01–07 inkl. Interviews 01–12, E-Mail-Verlauf, Beiratsprotokoll Q3/2025, Anforderungskatalog Rohfassung, Helpdesk-Export 2025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• Microsoft Learn: Czech Local Functionality – Business Central (learn.microsoft.com/…/localfunctionality/czech/czech-local-functionality)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• Business-Central-Preise ab 01.11.2025 (Essentials 80 USD, Premium 110 USD, Team Member 8 USD): alphavima.com/blog/business-central-pricing-guide; netsmartz.com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• Asseco APplus: erp-software.org/software/applus; applus-erp.de · Asseco Solutions CZ / HELIOS: forbes.cz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• IFS: ifs.com Partnerverzeichnis (CDC Data, CZ/SK); lupa.cz Pressemitteilung „IFS slaví 10 let na českém a slovenském trhu“; softwareconnect.com Review IFS Cloud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• SAP: Knowledge Base Article 3744200 (kein Outbound E-Invoicing CZ in DRC, S/4HANA Cloud Public Edition)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• proALPHA: proalpha.com; siemens.com Ecosystem · abas/Forterro: industrial-production.de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• E-Rechnung: IHK Frankfurt „E-Rechnungspflicht ab 2025“; BMF-Schreiben zur E-Rechnung (Übergangsregeln § 27 Abs. 38 UStG)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• NIS2UmsuCG in Kraft seit 06.12.2025: usd.de; secjur.com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• Hinweis: Alle Herstellerangaben Stand Abruf 10/2026; Preise für APplus und IFS sind nicht öffentlich und als Annahmen gekennzeichnet.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